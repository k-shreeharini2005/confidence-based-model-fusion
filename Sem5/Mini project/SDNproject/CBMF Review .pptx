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1" r:id="rId2"/>
  </p:sldMasterIdLst>
  <p:notesMasterIdLst>
    <p:notesMasterId r:id="rId30"/>
  </p:notesMasterIdLst>
  <p:handoutMasterIdLst>
    <p:handoutMasterId r:id="rId31"/>
  </p:handoutMasterIdLst>
  <p:sldIdLst>
    <p:sldId id="256" r:id="rId3"/>
    <p:sldId id="501" r:id="rId4"/>
    <p:sldId id="534" r:id="rId5"/>
    <p:sldId id="549" r:id="rId6"/>
    <p:sldId id="550" r:id="rId7"/>
    <p:sldId id="551" r:id="rId8"/>
    <p:sldId id="502" r:id="rId9"/>
    <p:sldId id="543" r:id="rId10"/>
    <p:sldId id="544" r:id="rId11"/>
    <p:sldId id="555" r:id="rId12"/>
    <p:sldId id="533" r:id="rId13"/>
    <p:sldId id="535" r:id="rId14"/>
    <p:sldId id="536" r:id="rId15"/>
    <p:sldId id="537" r:id="rId16"/>
    <p:sldId id="538" r:id="rId17"/>
    <p:sldId id="539" r:id="rId18"/>
    <p:sldId id="556" r:id="rId19"/>
    <p:sldId id="541" r:id="rId20"/>
    <p:sldId id="553" r:id="rId21"/>
    <p:sldId id="554" r:id="rId22"/>
    <p:sldId id="558" r:id="rId23"/>
    <p:sldId id="545" r:id="rId24"/>
    <p:sldId id="546" r:id="rId25"/>
    <p:sldId id="547" r:id="rId26"/>
    <p:sldId id="557" r:id="rId27"/>
    <p:sldId id="548" r:id="rId28"/>
    <p:sldId id="552" r:id="rId29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32"/>
    </p:embeddedFont>
    <p:embeddedFont>
      <p:font typeface="Verdana" panose="020B0604030504040204" pitchFamily="34" charset="0"/>
      <p:regular r:id="rId33"/>
      <p:bold r:id="rId34"/>
      <p:italic r:id="rId35"/>
      <p:boldItalic r:id="rId36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200"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200"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200" b="1"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1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B0D08D"/>
    <a:srgbClr val="9DD16F"/>
    <a:srgbClr val="FBFE12"/>
    <a:srgbClr val="98E044"/>
    <a:srgbClr val="6FB81F"/>
    <a:srgbClr val="F896FE"/>
    <a:srgbClr val="66FF33"/>
    <a:srgbClr val="FF0000"/>
    <a:srgbClr val="F89E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 autoAdjust="0"/>
    <p:restoredTop sz="95881" autoAdjust="0"/>
  </p:normalViewPr>
  <p:slideViewPr>
    <p:cSldViewPr showGuides="1">
      <p:cViewPr varScale="1">
        <p:scale>
          <a:sx n="85" d="100"/>
          <a:sy n="85" d="100"/>
        </p:scale>
        <p:origin x="1306" y="53"/>
      </p:cViewPr>
      <p:guideLst>
        <p:guide orient="horz" pos="221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2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20000"/>
              </a:spcBef>
              <a:buFontTx/>
              <a:buChar char="•"/>
              <a:defRPr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20000"/>
              </a:spcBef>
              <a:buFontTx/>
              <a:buChar char="•"/>
              <a:defRPr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20000"/>
              </a:spcBef>
              <a:buFontTx/>
              <a:buChar char="•"/>
              <a:defRPr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20000"/>
              </a:spcBef>
              <a:buFontTx/>
              <a:buChar char="•"/>
              <a:defRPr smtClean="0"/>
            </a:lvl1pPr>
          </a:lstStyle>
          <a:p>
            <a:pPr>
              <a:defRPr/>
            </a:pPr>
            <a:fld id="{227E0731-A314-440E-A2C0-4B8ED9BEA1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b="0"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b="0"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b="0"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3A8B66F-F4A0-482A-AC5A-DA74F23F3D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A8B66F-F4A0-482A-AC5A-DA74F23F3D17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9488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A8B66F-F4A0-482A-AC5A-DA74F23F3D17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</p:spTree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286E79-05FB-4B97-AC3D-6001053254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FB6F60-24FB-4FE5-A52F-2DC4FAA276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536875-4B29-4AC5-900E-0CAD1E3C03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93DDA-F6F1-433B-8EE8-4FF8DA6669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3A43C2-AB78-4ABE-8756-63F58A8C6F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D2A4E-544D-488C-BBC3-326B2A6120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AD49BA-7B80-422C-B12E-52FC6A9815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C5E23E-108F-4094-A5FE-58F11978E7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381A98-D86A-4B1F-B6D6-935A8D5F75E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C88FBC-D2A4-434B-93F2-F66F45CBB3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25A09B-A753-47D5-808D-4A3ECB1A0E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OFFLINE HANDWRITTEN CHARACTER RECOGINITION SYSTEM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buFontTx/>
              <a:buNone/>
              <a:defRPr sz="1400" b="0">
                <a:solidFill>
                  <a:srgbClr val="0000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sz="1400" b="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</a:t>
            </a:r>
          </a:p>
        </p:txBody>
      </p:sp>
      <p:sp>
        <p:nvSpPr>
          <p:cNvPr id="2" name="Line 7"/>
          <p:cNvSpPr>
            <a:spLocks noChangeShapeType="1"/>
          </p:cNvSpPr>
          <p:nvPr userDrawn="1"/>
        </p:nvSpPr>
        <p:spPr bwMode="auto">
          <a:xfrm>
            <a:off x="685800" y="990600"/>
            <a:ext cx="84582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031" name="Text Box 9"/>
          <p:cNvSpPr txBox="1">
            <a:spLocks noChangeArrowheads="1"/>
          </p:cNvSpPr>
          <p:nvPr userDrawn="1"/>
        </p:nvSpPr>
        <p:spPr bwMode="auto">
          <a:xfrm>
            <a:off x="914400" y="6248400"/>
            <a:ext cx="1981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endParaRPr lang="en-US" altLang="en-US"/>
          </a:p>
        </p:txBody>
      </p:sp>
      <p:sp>
        <p:nvSpPr>
          <p:cNvPr id="1032" name="Text Box 10"/>
          <p:cNvSpPr txBox="1">
            <a:spLocks noChangeArrowheads="1"/>
          </p:cNvSpPr>
          <p:nvPr userDrawn="1"/>
        </p:nvSpPr>
        <p:spPr bwMode="auto">
          <a:xfrm>
            <a:off x="457200" y="6324600"/>
            <a:ext cx="2895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fld id="{E1D749F7-539B-49A9-A2E1-FB0B5517981E}" type="datetime3">
              <a:rPr lang="en-US" altLang="en-US">
                <a:solidFill>
                  <a:srgbClr val="0000FF"/>
                </a:solidFill>
              </a:rPr>
              <a:pPr eaLnBrk="1" hangingPunct="1">
                <a:spcBef>
                  <a:spcPct val="50000"/>
                </a:spcBef>
              </a:pPr>
              <a:t>5 November 2025</a:t>
            </a:fld>
            <a:endParaRPr lang="en-US" altLang="en-US">
              <a:solidFill>
                <a:srgbClr val="0000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sz="1400" b="0"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buFontTx/>
              <a:buNone/>
              <a:defRPr sz="1400" b="0">
                <a:latin typeface="Times New Roman" panose="02020603050405020304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6627DD0-DD15-4C20-941C-71CFC91F00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literature%20survey_final.pdf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UNR-IDD.xlsx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"/>
          <p:cNvSpPr txBox="1">
            <a:spLocks noChangeArrowheads="1"/>
          </p:cNvSpPr>
          <p:nvPr/>
        </p:nvSpPr>
        <p:spPr bwMode="auto">
          <a:xfrm>
            <a:off x="1092835" y="178506"/>
            <a:ext cx="7772400" cy="2103438"/>
          </a:xfrm>
          <a:prstGeom prst="rect">
            <a:avLst/>
          </a:prstGeom>
          <a:noFill/>
          <a:ln w="9525">
            <a:noFill/>
            <a:round/>
          </a:ln>
        </p:spPr>
        <p:txBody>
          <a:bodyPr lIns="90000" tIns="46800" rIns="90000" bIns="46800" anchor="ctr"/>
          <a:lstStyle/>
          <a:p>
            <a:pPr algn="ctr" eaLnBrk="1" hangingPunct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Confidence-Based Model Fusion (CBMF) for Robust Adversarial Detection in Multi-Controller SDNs</a:t>
            </a: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1092835" y="1567304"/>
            <a:ext cx="7772400" cy="3512514"/>
          </a:xfrm>
          <a:prstGeom prst="rect">
            <a:avLst/>
          </a:prstGeom>
          <a:noFill/>
          <a:ln w="9525">
            <a:noFill/>
            <a:round/>
          </a:ln>
        </p:spPr>
        <p:txBody>
          <a:bodyPr lIns="90000" tIns="46800" rIns="90000" bIns="46800"/>
          <a:lstStyle/>
          <a:p>
            <a:pPr marL="342900" indent="-338455" eaLnBrk="1" hangingPunct="1">
              <a:lnSpc>
                <a:spcPct val="90000"/>
              </a:lnSpc>
              <a:spcBef>
                <a:spcPts val="700"/>
              </a:spcBef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/>
            </a:pPr>
            <a:endParaRPr lang="en-US" sz="2400" b="0" dirty="0">
              <a:solidFill>
                <a:srgbClr val="000000"/>
              </a:solidFill>
              <a:latin typeface="Arial" panose="020B0604020202020204" pitchFamily="34" charset="0"/>
              <a:cs typeface="+mn-cs"/>
            </a:endParaRPr>
          </a:p>
          <a:p>
            <a:pPr marL="342900" indent="-338455" eaLnBrk="1" hangingPunct="1">
              <a:lnSpc>
                <a:spcPct val="90000"/>
              </a:lnSpc>
              <a:spcBef>
                <a:spcPts val="700"/>
              </a:spcBef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38455" eaLnBrk="1" hangingPunct="1">
              <a:lnSpc>
                <a:spcPct val="90000"/>
              </a:lnSpc>
              <a:spcBef>
                <a:spcPts val="700"/>
              </a:spcBef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sz="2400" dirty="0">
                <a:solidFill>
                  <a:srgbClr val="0066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38455" eaLnBrk="1" hangingPunct="1">
              <a:lnSpc>
                <a:spcPct val="90000"/>
              </a:lnSpc>
              <a:spcBef>
                <a:spcPts val="500"/>
              </a:spcBef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/>
            </a:pPr>
            <a:r>
              <a:rPr lang="en-US"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	 	  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SHINMAYA K B                        9517202306091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SHREE HARINI K                    9517202306092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VARSHA G A                              9517202306111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38455" eaLnBrk="1" hangingPunct="1">
              <a:lnSpc>
                <a:spcPct val="150000"/>
              </a:lnSpc>
              <a:spcBef>
                <a:spcPts val="500"/>
              </a:spcBef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/>
            </a:pPr>
            <a:br>
              <a:rPr lang="en-US"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b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0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</a:br>
            <a:endParaRPr lang="en-US" sz="2400" b="0" dirty="0">
              <a:solidFill>
                <a:srgbClr val="000000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0838" cy="458788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092835" y="4868545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MENTOR:</a:t>
            </a:r>
            <a:endParaRPr lang="en-US" sz="2400" dirty="0"/>
          </a:p>
        </p:txBody>
      </p:sp>
      <p:sp>
        <p:nvSpPr>
          <p:cNvPr id="4" name="Text Box 3"/>
          <p:cNvSpPr txBox="1"/>
          <p:nvPr/>
        </p:nvSpPr>
        <p:spPr>
          <a:xfrm>
            <a:off x="1619885" y="5416897"/>
            <a:ext cx="75241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err="1">
                <a:latin typeface="+mn-lt"/>
              </a:rPr>
              <a:t>Mr.M.V.Balaganesh</a:t>
            </a:r>
            <a:r>
              <a:rPr lang="en-US" sz="2400" dirty="0">
                <a:latin typeface="+mn-lt"/>
              </a:rPr>
              <a:t> </a:t>
            </a:r>
            <a:r>
              <a:rPr lang="en-IN" sz="2400" dirty="0">
                <a:latin typeface="+mn-lt"/>
              </a:rPr>
              <a:t>BTech, MTech</a:t>
            </a:r>
          </a:p>
          <a:p>
            <a:r>
              <a:rPr lang="en-IN" sz="2400" dirty="0">
                <a:latin typeface="+mn-lt"/>
              </a:rPr>
              <a:t>Assistant Professor-IT Department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7772400" cy="639688"/>
          </a:xfrm>
        </p:spPr>
        <p:txBody>
          <a:bodyPr/>
          <a:lstStyle/>
          <a:p>
            <a:r>
              <a:rPr lang="en-US" dirty="0"/>
              <a:t>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68760"/>
            <a:ext cx="8458200" cy="4827240"/>
          </a:xfrm>
        </p:spPr>
        <p:txBody>
          <a:bodyPr/>
          <a:lstStyle/>
          <a:p>
            <a:pPr algn="just"/>
            <a:r>
              <a:rPr lang="en-US" altLang="en-US" sz="2400" dirty="0">
                <a:solidFill>
                  <a:srgbClr val="000000"/>
                </a:solidFill>
              </a:rPr>
              <a:t>Detect and isolate compromised SDN controllers under adversarial (poisoning) attacks.</a:t>
            </a:r>
          </a:p>
          <a:p>
            <a:pPr algn="just"/>
            <a:r>
              <a:rPr lang="en-US" altLang="en-US" sz="2400" dirty="0">
                <a:solidFill>
                  <a:srgbClr val="000000"/>
                </a:solidFill>
              </a:rPr>
              <a:t>Improve detection accuracy using confidence-weighted model fusion.</a:t>
            </a:r>
          </a:p>
          <a:p>
            <a:pPr algn="just"/>
            <a:r>
              <a:rPr lang="en-US" altLang="en-US" sz="2400" dirty="0">
                <a:solidFill>
                  <a:srgbClr val="000000"/>
                </a:solidFill>
              </a:rPr>
              <a:t>Enhance TAPD framework by integrating controller reliability scores.</a:t>
            </a:r>
          </a:p>
          <a:p>
            <a:pPr algn="just"/>
            <a:r>
              <a:rPr lang="en-US" altLang="en-US" sz="2400" dirty="0">
                <a:solidFill>
                  <a:srgbClr val="000000"/>
                </a:solidFill>
              </a:rPr>
              <a:t>Maintain robustness and precision in multi-controller SDN (MSDN) environments.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IT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B81C3-608D-2DDF-EA85-290D1726E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61" y="457212"/>
            <a:ext cx="7772400" cy="1143000"/>
          </a:xfrm>
        </p:spPr>
        <p:txBody>
          <a:bodyPr/>
          <a:lstStyle/>
          <a:p>
            <a:r>
              <a:rPr lang="en-GB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259BB-2808-C91A-F50E-DCA42D51E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600" y="1371600"/>
            <a:ext cx="8033546" cy="4114800"/>
          </a:xfrm>
        </p:spPr>
        <p:txBody>
          <a:bodyPr/>
          <a:lstStyle/>
          <a:p>
            <a:pPr marL="0" indent="0">
              <a:buNone/>
            </a:pPr>
            <a:endParaRPr lang="en-IN" sz="2800" dirty="0"/>
          </a:p>
          <a:p>
            <a:pPr marL="0" lvl="0" indent="0">
              <a:spcBef>
                <a:spcPct val="0"/>
              </a:spcBef>
            </a:pPr>
            <a:r>
              <a:rPr lang="en-US" altLang="en-US" sz="2800" dirty="0"/>
              <a:t>Introduce </a:t>
            </a:r>
            <a:r>
              <a:rPr lang="en-US" altLang="en-US" sz="2800" b="1" dirty="0"/>
              <a:t>confidence scoring</a:t>
            </a:r>
            <a:r>
              <a:rPr lang="en-US" altLang="en-US" sz="2800" dirty="0"/>
              <a:t> for controller reliability evaluation.</a:t>
            </a:r>
          </a:p>
          <a:p>
            <a:pPr marL="0" lvl="0" indent="0">
              <a:spcBef>
                <a:spcPct val="0"/>
              </a:spcBef>
            </a:pPr>
            <a:r>
              <a:rPr lang="en-US" altLang="en-US" sz="2800" dirty="0"/>
              <a:t>Prevent false votes from compromised controllers.</a:t>
            </a:r>
          </a:p>
          <a:p>
            <a:pPr marL="0" lvl="0" indent="0">
              <a:spcBef>
                <a:spcPct val="0"/>
              </a:spcBef>
            </a:pPr>
            <a:r>
              <a:rPr lang="en-US" altLang="en-US" sz="2800" dirty="0"/>
              <a:t>Use </a:t>
            </a:r>
            <a:r>
              <a:rPr lang="en-US" altLang="en-US" sz="2800" b="1" dirty="0"/>
              <a:t>weighted voting</a:t>
            </a:r>
            <a:r>
              <a:rPr lang="en-US" altLang="en-US" sz="2800" dirty="0"/>
              <a:t> to strengthen TAPD’s decision-making.</a:t>
            </a:r>
          </a:p>
          <a:p>
            <a:pPr marL="0" lvl="0" indent="0">
              <a:spcBef>
                <a:spcPct val="0"/>
              </a:spcBef>
            </a:pPr>
            <a:r>
              <a:rPr lang="en-US" altLang="en-US" sz="2800" dirty="0"/>
              <a:t>Validate system performance using </a:t>
            </a:r>
            <a:r>
              <a:rPr lang="en-US" altLang="en-US" sz="2800" b="1" dirty="0"/>
              <a:t>UNR-IDD dataset</a:t>
            </a:r>
            <a:r>
              <a:rPr lang="en-US" altLang="en-US" sz="2800" dirty="0"/>
              <a:t> under varying attack ratios.</a:t>
            </a:r>
          </a:p>
          <a:p>
            <a:endParaRPr lang="en-IN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77A0E0-7A87-59C7-2498-DF42AD5BF3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673500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025" y="147158"/>
            <a:ext cx="7772400" cy="1143000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NETWORKING CONCEPT</a:t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4B8903F8-01C2-1E68-92AF-F6B2B4914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084" y="1290158"/>
            <a:ext cx="777239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Based on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SDN architecture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with multiple controllers providing centralized monitoring and distributed control for scalability.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Each controller uses an ML-based NIDS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analyze network traffic and detect anomalies locally.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Controllers share trained models and evaluation metrics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with peers for cross-validation and trust assessment.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Command Center aggregates confidence-weighted votes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to identify and isolate compromised controllers.</a:t>
            </a:r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90500"/>
            <a:ext cx="7772400" cy="1143000"/>
          </a:xfrm>
        </p:spPr>
        <p:txBody>
          <a:bodyPr/>
          <a:lstStyle/>
          <a:p>
            <a:r>
              <a:rPr lang="en-US" dirty="0"/>
              <a:t>SOFTWARE ENGINEERING CONCEPT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A247AF7-039E-8E3A-2BD6-6DA621002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1196752"/>
            <a:ext cx="8208912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Modular Design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– The system is organized into independent modules for simplified development, testing, and scalability.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Layered Architecture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– The project follows a multi-layer structure separating data processing, logic, and control functionalities.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Algorithmic Design and Analysis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– Each module is implemented using precise algorithms supported by mathematical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Testing and Validation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– The system is verified through module-wise testing and performance evaluation metrics.</a:t>
            </a:r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8448"/>
            <a:ext cx="7772400" cy="1143000"/>
          </a:xfrm>
        </p:spPr>
        <p:txBody>
          <a:bodyPr/>
          <a:lstStyle/>
          <a:p>
            <a:r>
              <a:rPr lang="en-US" dirty="0"/>
              <a:t>DATA MINING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1484784"/>
            <a:ext cx="8388424" cy="4896544"/>
          </a:xfrm>
        </p:spPr>
        <p:txBody>
          <a:bodyPr/>
          <a:lstStyle/>
          <a:p>
            <a:r>
              <a:rPr lang="en-US" sz="2800" dirty="0"/>
              <a:t>Uses </a:t>
            </a:r>
            <a:r>
              <a:rPr lang="en-US" sz="2800" b="1" dirty="0"/>
              <a:t>Random Forest classifiers </a:t>
            </a:r>
            <a:r>
              <a:rPr lang="en-US" sz="2800" dirty="0"/>
              <a:t>for anomaly detection.</a:t>
            </a:r>
          </a:p>
          <a:p>
            <a:r>
              <a:rPr lang="en-US" sz="2800" dirty="0"/>
              <a:t>Analyzes traffic patterns and error metrics across controllers.</a:t>
            </a:r>
          </a:p>
          <a:p>
            <a:r>
              <a:rPr lang="en-US" sz="2800" dirty="0"/>
              <a:t>Derives </a:t>
            </a:r>
            <a:r>
              <a:rPr lang="en-US" sz="2800" b="1" dirty="0"/>
              <a:t>confidence weights </a:t>
            </a:r>
            <a:r>
              <a:rPr lang="en-US" sz="2800" dirty="0"/>
              <a:t>from model self-errors.</a:t>
            </a:r>
          </a:p>
          <a:p>
            <a:r>
              <a:rPr lang="en-US" sz="2800" dirty="0"/>
              <a:t>Combines predictions through confidence-based aggregation.</a:t>
            </a:r>
          </a:p>
          <a:p>
            <a:r>
              <a:rPr lang="en-US" sz="2800" b="1" dirty="0"/>
              <a:t>Applies outlier detection techniques</a:t>
            </a:r>
            <a:r>
              <a:rPr lang="en-US" sz="2800" dirty="0"/>
              <a:t> to isolate abnormal behaviors and maintain trust in the SDN control plane.</a:t>
            </a:r>
          </a:p>
          <a:p>
            <a:pPr algn="just"/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0"/>
            <a:ext cx="7772400" cy="11430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LITERATURE SURVEY</a:t>
            </a:r>
            <a:br>
              <a:rPr lang="en-US" dirty="0">
                <a:solidFill>
                  <a:schemeClr val="tx1"/>
                </a:solidFill>
                <a:cs typeface="Times New Roman" panose="02020603050405020304" pitchFamily="18" charset="0"/>
              </a:rPr>
            </a:br>
            <a:r>
              <a:rPr lang="en-IN" dirty="0"/>
              <a:t>Existing TAPD Framework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524980"/>
            <a:ext cx="7340352" cy="380804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b="1" dirty="0"/>
              <a:t> </a:t>
            </a:r>
            <a:endParaRPr lang="en-IN" sz="2400" dirty="0"/>
          </a:p>
          <a:p>
            <a:pPr marL="0" indent="0">
              <a:buNone/>
            </a:pPr>
            <a:r>
              <a:rPr lang="en-US" sz="2400" b="1" dirty="0"/>
              <a:t>Advantages:</a:t>
            </a:r>
            <a:endParaRPr lang="en-US" sz="2400" dirty="0"/>
          </a:p>
          <a:p>
            <a:r>
              <a:rPr lang="en-US" sz="2400" dirty="0"/>
              <a:t>Detects adversarial poisoning through cross-evaluation.</a:t>
            </a:r>
          </a:p>
          <a:p>
            <a:r>
              <a:rPr lang="en-US" sz="2400" dirty="0"/>
              <a:t>Leverages multi-controller collaboration.</a:t>
            </a:r>
          </a:p>
          <a:p>
            <a:pPr marL="0" indent="0">
              <a:buNone/>
            </a:pPr>
            <a:r>
              <a:rPr lang="en-US" sz="2400" b="1" dirty="0"/>
              <a:t>Limitations:</a:t>
            </a:r>
            <a:endParaRPr lang="en-US" sz="2400" dirty="0"/>
          </a:p>
          <a:p>
            <a:r>
              <a:rPr lang="en-US" sz="2400" dirty="0"/>
              <a:t>Treats all controller votes equally, ignoring trust levels.</a:t>
            </a:r>
          </a:p>
          <a:p>
            <a:r>
              <a:rPr lang="en-US" sz="2400" dirty="0"/>
              <a:t>Can misclassify due to compromised voting sources.</a:t>
            </a:r>
          </a:p>
          <a:p>
            <a:pPr algn="just"/>
            <a:endParaRPr lang="en-US" sz="2400" dirty="0"/>
          </a:p>
          <a:p>
            <a:pPr algn="just">
              <a:buNone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literature survey_final.pdf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IT</a:t>
            </a:r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9696"/>
            <a:ext cx="7772400" cy="1143000"/>
          </a:xfrm>
        </p:spPr>
        <p:txBody>
          <a:bodyPr/>
          <a:lstStyle/>
          <a:p>
            <a:r>
              <a:rPr lang="en-US" dirty="0"/>
              <a:t>LITERATURE SURVEY</a:t>
            </a:r>
            <a:br>
              <a:rPr lang="en-US" dirty="0"/>
            </a:br>
            <a:r>
              <a:rPr lang="en-IN" dirty="0"/>
              <a:t>Confidence-Based Fusion Approaches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043608" y="1700808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Advantages:</a:t>
            </a:r>
            <a:endParaRPr lang="en-US" sz="2400" dirty="0"/>
          </a:p>
          <a:p>
            <a:r>
              <a:rPr lang="en-US" sz="2400" dirty="0"/>
              <a:t>Improves ensemble reliability through confidence weighting.</a:t>
            </a:r>
          </a:p>
          <a:p>
            <a:r>
              <a:rPr lang="en-US" sz="2400" dirty="0"/>
              <a:t>Reduces noise from unreliable model contributors.</a:t>
            </a:r>
          </a:p>
          <a:p>
            <a:pPr marL="0" indent="0">
              <a:buNone/>
            </a:pPr>
            <a:r>
              <a:rPr lang="en-US" sz="2400" b="1" dirty="0"/>
              <a:t>Limitations:</a:t>
            </a:r>
            <a:endParaRPr lang="en-US" sz="2400" dirty="0"/>
          </a:p>
          <a:p>
            <a:r>
              <a:rPr lang="en-US" sz="2400" dirty="0"/>
              <a:t>Requires accurate self-error measurement.</a:t>
            </a:r>
          </a:p>
          <a:p>
            <a:r>
              <a:rPr lang="en-US" sz="2400" dirty="0"/>
              <a:t>Additional computation during aggregation.</a:t>
            </a:r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LITERATURE SURVEY</a:t>
            </a:r>
            <a:br>
              <a:rPr lang="en-US" dirty="0"/>
            </a:br>
            <a:r>
              <a:rPr lang="en-IN" dirty="0"/>
              <a:t>Proposed CBMF System</a:t>
            </a:r>
            <a:br>
              <a:rPr lang="en-IN" dirty="0"/>
            </a:br>
            <a:br>
              <a:rPr lang="en-IN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1371600"/>
            <a:ext cx="7772400" cy="4114800"/>
          </a:xfrm>
        </p:spPr>
        <p:txBody>
          <a:bodyPr/>
          <a:lstStyle/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Advantages:</a:t>
            </a:r>
            <a:endParaRPr lang="en-US" sz="2400" dirty="0"/>
          </a:p>
          <a:p>
            <a:r>
              <a:rPr lang="en-US" sz="2400" dirty="0"/>
              <a:t>Assigns confidence weights to each controller’s evaluation.</a:t>
            </a:r>
          </a:p>
          <a:p>
            <a:r>
              <a:rPr lang="en-US" sz="2400" dirty="0"/>
              <a:t>Stronger resistance to poisoning attacks.</a:t>
            </a:r>
          </a:p>
          <a:p>
            <a:r>
              <a:rPr lang="en-US" sz="2400" dirty="0"/>
              <a:t>Improves detection accuracy, precision, and recall.</a:t>
            </a:r>
          </a:p>
          <a:p>
            <a:pPr marL="0" indent="0">
              <a:buNone/>
            </a:pPr>
            <a:r>
              <a:rPr lang="en-US" sz="2400" b="1" dirty="0"/>
              <a:t>Limitations:</a:t>
            </a:r>
            <a:endParaRPr lang="en-US" sz="2400" dirty="0"/>
          </a:p>
          <a:p>
            <a:r>
              <a:rPr lang="en-US" sz="2400" dirty="0"/>
              <a:t>Needs well-calibrated confidence thresholds.</a:t>
            </a:r>
          </a:p>
          <a:p>
            <a:r>
              <a:rPr lang="en-US" sz="2400" dirty="0"/>
              <a:t>Performance depends on consistent error estimation.</a:t>
            </a:r>
          </a:p>
          <a:p>
            <a:pPr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90500"/>
            <a:ext cx="7772400" cy="1143000"/>
          </a:xfrm>
        </p:spPr>
        <p:txBody>
          <a:bodyPr/>
          <a:lstStyle/>
          <a:p>
            <a:r>
              <a:rPr lang="en-US" dirty="0"/>
              <a:t>OVERALL WORKFLOW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A22EBC-5F80-0AD8-E662-951409F344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617144"/>
            <a:ext cx="7632848" cy="3623711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6E7F8-3626-BD1D-1795-72EA6EE9B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600" y="609600"/>
            <a:ext cx="7486600" cy="515144"/>
          </a:xfrm>
        </p:spPr>
        <p:txBody>
          <a:bodyPr/>
          <a:lstStyle/>
          <a:p>
            <a:r>
              <a:rPr lang="en-IN" dirty="0"/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88F5D-88FE-DEF7-4637-4C47E4A6D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616" y="1268760"/>
            <a:ext cx="5184576" cy="4683224"/>
          </a:xfrm>
        </p:spPr>
        <p:txBody>
          <a:bodyPr/>
          <a:lstStyle/>
          <a:p>
            <a:pPr>
              <a:buNone/>
            </a:pPr>
            <a:endParaRPr lang="en-US" sz="2400" dirty="0"/>
          </a:p>
          <a:p>
            <a:pPr>
              <a:spcBef>
                <a:spcPct val="0"/>
              </a:spcBef>
            </a:pPr>
            <a:r>
              <a:rPr lang="en-US" altLang="en-US" sz="2800" dirty="0">
                <a:latin typeface="+mj-lt"/>
              </a:rPr>
              <a:t>Model Training</a:t>
            </a:r>
          </a:p>
          <a:p>
            <a:pPr>
              <a:spcBef>
                <a:spcPct val="0"/>
              </a:spcBef>
            </a:pPr>
            <a:r>
              <a:rPr lang="en-US" altLang="en-US" sz="2800" dirty="0">
                <a:latin typeface="+mj-lt"/>
              </a:rPr>
              <a:t>Model Transfer</a:t>
            </a:r>
          </a:p>
          <a:p>
            <a:pPr>
              <a:spcBef>
                <a:spcPct val="0"/>
              </a:spcBef>
            </a:pPr>
            <a:r>
              <a:rPr lang="en-US" altLang="en-US" sz="2800" dirty="0">
                <a:latin typeface="+mj-lt"/>
              </a:rPr>
              <a:t>Cross-Evaluation</a:t>
            </a:r>
          </a:p>
          <a:p>
            <a:pPr>
              <a:spcBef>
                <a:spcPct val="0"/>
              </a:spcBef>
            </a:pPr>
            <a:r>
              <a:rPr lang="en-US" altLang="en-US" sz="2800" dirty="0">
                <a:latin typeface="+mj-lt"/>
              </a:rPr>
              <a:t>Weighted Voting</a:t>
            </a:r>
          </a:p>
          <a:p>
            <a:pPr>
              <a:spcBef>
                <a:spcPct val="0"/>
              </a:spcBef>
            </a:pPr>
            <a:r>
              <a:rPr lang="en-US" altLang="en-US" sz="2800" dirty="0">
                <a:latin typeface="+mj-lt"/>
              </a:rPr>
              <a:t>Final Aggregation</a:t>
            </a:r>
          </a:p>
          <a:p>
            <a:r>
              <a:rPr lang="en-US" sz="2400" dirty="0">
                <a:latin typeface="+mj-lt"/>
              </a:rPr>
              <a:t>CONFIDENCE SCORING (Novelty)</a:t>
            </a: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9E15DB-D3D9-584F-74F4-DE2AD2600C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001683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2CF1E-12BC-356A-2689-02FB724B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TRAINING</a:t>
            </a:r>
            <a:endParaRPr lang="en-IN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F31B37-239D-A14D-06E4-4C23770D12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Each controller locally trains an ML-based intrusion detection model (e.g., Random Forest) using its own network traffic data.</a:t>
                </a:r>
              </a:p>
              <a:p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Extracts flow-level features from UNR-IDD dataset.</a:t>
                </a:r>
              </a:p>
              <a:p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Learns to classify traffic as benign or malicious.</a:t>
                </a:r>
              </a:p>
              <a:p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Produces a trained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for every controller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2400" dirty="0">
                    <a:latin typeface="+mj-lt"/>
                    <a:cs typeface="Arial" panose="020B0604020202020204" pitchFamily="34" charset="0"/>
                  </a:rPr>
                  <a:t>.</a:t>
                </a:r>
                <a:endParaRPr lang="en-US" sz="2400" dirty="0">
                  <a:latin typeface="+mj-lt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F31B37-239D-A14D-06E4-4C23770D1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8" t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083A2-CF24-434E-D4C9-58F706CDBD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534648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78503-6356-C21E-1053-16D1E54D4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TRANSFER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66D9E-5630-FDE0-CBE7-43515D6BB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786" y="1857364"/>
            <a:ext cx="7772400" cy="4114800"/>
          </a:xfrm>
        </p:spPr>
        <p:txBody>
          <a:bodyPr/>
          <a:lstStyle/>
          <a:p>
            <a:r>
              <a:rPr lang="en-US" sz="2400" dirty="0"/>
              <a:t>After local training, controllers share their models—not raw data—with peer controllers through the </a:t>
            </a:r>
            <a:r>
              <a:rPr lang="en-US" sz="2400" b="1" dirty="0"/>
              <a:t>Command Center</a:t>
            </a:r>
            <a:r>
              <a:rPr lang="en-US" sz="2400" dirty="0"/>
              <a:t>.</a:t>
            </a:r>
          </a:p>
          <a:p>
            <a:r>
              <a:rPr lang="en-US" sz="2400" dirty="0"/>
              <a:t>Ensures privacy and bandwidth efficiency.</a:t>
            </a:r>
          </a:p>
          <a:p>
            <a:r>
              <a:rPr lang="en-US" sz="2400" dirty="0"/>
              <a:t>Each controller receives peer models for cross-evaluation.</a:t>
            </a:r>
          </a:p>
          <a:p>
            <a:r>
              <a:rPr lang="en-US" sz="2400" dirty="0"/>
              <a:t>Communication occurs via secure REST interfaces.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62342-A89A-ACD2-9A47-6980F0D16E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5229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A1B54-11E7-A8D0-30E0-6767D9193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CROSS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FD4E3-5389-5273-9F01-82ED325D4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Controllers test each peer’s model using their own validation data.</a:t>
            </a:r>
          </a:p>
          <a:p>
            <a:r>
              <a:rPr lang="en-US" sz="2400" dirty="0"/>
              <a:t>Computes prediction errors for all received models.</a:t>
            </a:r>
          </a:p>
          <a:p>
            <a:r>
              <a:rPr lang="en-US" sz="2400" dirty="0"/>
              <a:t>Generates an </a:t>
            </a:r>
            <a:r>
              <a:rPr lang="en-US" sz="2400" b="1" dirty="0"/>
              <a:t>error matrix</a:t>
            </a:r>
            <a:r>
              <a:rPr lang="en-US" sz="2400" dirty="0"/>
              <a:t> representing inter-controller reliability.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29222A-4FE1-900A-454E-8169985494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838291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C1FD6-2921-034F-7159-0170A8210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en-US" dirty="0">
                <a:latin typeface="+mn-lt"/>
              </a:rPr>
              <a:t>WEIGHTED VOTING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253CF-D7BD-4AC2-DD27-664FA7BAF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Each controller’s vote is assigned a </a:t>
            </a:r>
            <a:r>
              <a:rPr lang="en-US" sz="2400" b="1" dirty="0"/>
              <a:t>confidence weight</a:t>
            </a:r>
            <a:r>
              <a:rPr lang="en-US" sz="2400" dirty="0"/>
              <a:t> proportional to its reliability.</a:t>
            </a:r>
          </a:p>
          <a:p>
            <a:r>
              <a:rPr lang="en-US" sz="2400" dirty="0"/>
              <a:t>More confident controllers contribute stronger votes.</a:t>
            </a:r>
          </a:p>
          <a:p>
            <a:r>
              <a:rPr lang="en-US" sz="2400" dirty="0"/>
              <a:t>Reduces the impact of compromised or inaccurate controllers.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AAF8D9-B24C-1D3E-A694-9A5A350D19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713793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ED49A-4CE8-B262-6170-1CC5A1EB1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F88BB-2B39-A2A4-CF68-54485BD9F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</a:t>
            </a:r>
            <a:r>
              <a:rPr lang="en-US" sz="2400" b="1" dirty="0"/>
              <a:t>Command Center</a:t>
            </a:r>
            <a:r>
              <a:rPr lang="en-US" sz="2400" dirty="0"/>
              <a:t> collects weighted votes from all controllers.</a:t>
            </a:r>
          </a:p>
          <a:p>
            <a:r>
              <a:rPr lang="en-US" sz="2400" dirty="0"/>
              <a:t>Performs aggregation to derive global detection decisions.</a:t>
            </a:r>
          </a:p>
          <a:p>
            <a:r>
              <a:rPr lang="en-US" sz="2400" dirty="0"/>
              <a:t>Calculates a </a:t>
            </a:r>
            <a:r>
              <a:rPr lang="en-US" sz="2400" b="1" dirty="0"/>
              <a:t>suspicion score</a:t>
            </a:r>
            <a:r>
              <a:rPr lang="en-US" sz="2400" dirty="0"/>
              <a:t> for each controller.</a:t>
            </a:r>
          </a:p>
          <a:p>
            <a:r>
              <a:rPr lang="en-US" sz="2400" dirty="0"/>
              <a:t>Controllers exceeding a threshold are flagged as malicious.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992BD6-1BE0-9D18-F174-289836A7EC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271400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SCORING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Introduced in CBMF to enhance the TAPD framework.</a:t>
                </a:r>
              </a:p>
              <a:p>
                <a:r>
                  <a:rPr lang="en-US" sz="2400" dirty="0"/>
                  <a:t>Derives each controller’s </a:t>
                </a:r>
                <a:r>
                  <a:rPr lang="en-US" sz="2400" b="1" dirty="0"/>
                  <a:t>confidence score</a:t>
                </a:r>
                <a:r>
                  <a:rPr lang="en-US" sz="2400" dirty="0"/>
                  <a:t> using self-error metrics: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𝐶𝑜𝑛𝑓𝑖𝑑𝑒𝑛𝑐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𝑀𝑒𝑎𝑛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𝑆𝑒𝑙𝑓𝐸𝑟𝑟𝑜</m:t>
                          </m:r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2400" dirty="0"/>
              </a:p>
              <a:p>
                <a:r>
                  <a:rPr lang="en-US" sz="2400" dirty="0"/>
                  <a:t>Dynamically adjusts voting weights based on recent reliability.</a:t>
                </a:r>
              </a:p>
              <a:p>
                <a:r>
                  <a:rPr lang="en-US" sz="2400" dirty="0"/>
                  <a:t>Improves accuracy, precision, and robustness against adversarial poisoning.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8" t="-1185" r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A4A6A-3E73-E0FC-0073-A7A2F1879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783" y="173320"/>
            <a:ext cx="7772400" cy="1143000"/>
          </a:xfrm>
        </p:spPr>
        <p:txBody>
          <a:bodyPr/>
          <a:lstStyle/>
          <a:p>
            <a:r>
              <a:rPr lang="en-GB" dirty="0"/>
              <a:t>FORMULA USED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3F048E-13C4-6B6C-1A31-A30D5CB4E4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1600" y="1316320"/>
                <a:ext cx="7772400" cy="4724400"/>
              </a:xfrm>
            </p:spPr>
            <p:txBody>
              <a:bodyPr/>
              <a:lstStyle/>
              <a:p>
                <a:pPr>
                  <a:buNone/>
                </a:pPr>
                <a:r>
                  <a:rPr lang="en-IN" sz="2400" dirty="0"/>
                  <a:t>  1. </a:t>
                </a:r>
                <a:r>
                  <a:rPr lang="en-US" sz="2400" dirty="0"/>
                  <a:t>Model Generation Equation</a:t>
                </a:r>
                <a:endParaRPr lang="en-IN" sz="2400" dirty="0"/>
              </a:p>
              <a:p>
                <a:pPr>
                  <a:buNone/>
                </a:pPr>
                <a:r>
                  <a:rPr lang="en-IN" sz="2400" dirty="0"/>
                  <a:t>              </a:t>
                </a:r>
                <a14:m>
                  <m:oMath xmlns:m="http://schemas.openxmlformats.org/officeDocument/2006/math">
                    <m:r>
                      <a:rPr lang="en-IN" sz="2400" i="1" smtClean="0"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pPr>
                  <a:buNone/>
                </a:pPr>
                <a:r>
                  <a:rPr lang="en-IN" sz="2400" dirty="0"/>
                  <a:t>  2. </a:t>
                </a:r>
                <a:r>
                  <a:rPr lang="sv-SE" sz="2400" dirty="0"/>
                  <a:t>Random Label Manipulation (RLM) Attack Simulation</a:t>
                </a:r>
                <a:endParaRPr lang="en-IN" sz="2400" dirty="0"/>
              </a:p>
              <a:p>
                <a:pPr>
                  <a:buNone/>
                </a:pPr>
                <a:r>
                  <a:rPr lang="en-IN" sz="2400" dirty="0"/>
                  <a:t>               </a:t>
                </a:r>
                <a:r>
                  <a:rPr lang="pt-BR" sz="2400" dirty="0"/>
                  <a:t>V = ceil(Θ x E) </a:t>
                </a:r>
              </a:p>
              <a:p>
                <a:pPr>
                  <a:buNone/>
                </a:pPr>
                <a:r>
                  <a:rPr lang="en-IN" sz="2400" dirty="0"/>
                  <a:t>  3. </a:t>
                </a:r>
                <a:r>
                  <a:rPr lang="en-US" sz="2400" dirty="0"/>
                  <a:t>Model Prediction Equation</a:t>
                </a:r>
                <a:endParaRPr lang="en-IN" sz="2400" dirty="0"/>
              </a:p>
              <a:p>
                <a:pPr>
                  <a:buNone/>
                </a:pPr>
                <a:r>
                  <a:rPr lang="en-IN" sz="2400" dirty="0"/>
                  <a:t>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sub>
                        </m:sSub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𝑝𝑟𝑒𝑑𝑖𝑐𝑡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𝑆𝑟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400" dirty="0"/>
              </a:p>
              <a:p>
                <a:pPr>
                  <a:buNone/>
                </a:pPr>
                <a:r>
                  <a:rPr lang="en-IN" sz="2400" dirty="0"/>
                  <a:t> 4.</a:t>
                </a:r>
                <a:r>
                  <a:rPr lang="en-US" sz="2400" dirty="0"/>
                  <a:t> Mean Error Computation </a:t>
                </a:r>
                <a:endParaRPr lang="en-IN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i="0" dirty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l-GR" sz="2000" i="1" dirty="0" smtClean="0">
                              <a:latin typeface="Cambria Math" panose="02040503050406030204" pitchFamily="18" charset="0"/>
                            </a:rPr>
                            <m:t>𝑆𝑟</m:t>
                          </m:r>
                        </m:sub>
                      </m:sSub>
                      <m:r>
                        <a:rPr lang="el-GR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sz="2000" i="1" dirty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l-GR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den>
                      </m:f>
                      <m:r>
                        <a:rPr lang="el-GR" sz="2000" i="1" dirty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l-GR" sz="2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sSub>
                                    <m:sSubPr>
                                      <m:ctrlP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dirty="0" smtClean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</m:e>
                                    <m:sub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𝑝𝑟𝑒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sz="2000" b="0" i="1" dirty="0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b="0" i="1" dirty="0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𝑑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b="0" i="1" dirty="0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l-GR" sz="2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i="1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3F048E-13C4-6B6C-1A31-A30D5CB4E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1600" y="1316320"/>
                <a:ext cx="7772400" cy="4724400"/>
              </a:xfrm>
              <a:blipFill>
                <a:blip r:embed="rId3"/>
                <a:stretch>
                  <a:fillRect l="-235" t="-1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68280-BDC9-4F5B-C770-9E5EEB7315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855233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750" y="404664"/>
            <a:ext cx="7772400" cy="1143000"/>
          </a:xfrm>
        </p:spPr>
        <p:txBody>
          <a:bodyPr/>
          <a:lstStyle/>
          <a:p>
            <a:r>
              <a:rPr lang="en-US" dirty="0"/>
              <a:t>FORMULA USED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090578" y="1770662"/>
                <a:ext cx="7441862" cy="59990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0" dirty="0">
                    <a:latin typeface="+mj-lt"/>
                  </a:rPr>
                  <a:t>5.Outlier Detection</a:t>
                </a:r>
              </a:p>
              <a:p>
                <a:r>
                  <a:rPr lang="en-US" sz="2400" dirty="0">
                    <a:latin typeface="+mj-lt"/>
                  </a:rPr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∗ 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+1)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𝑡h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𝑡𝑒𝑟</m:t>
                    </m:r>
                    <m:r>
                      <m:rPr>
                        <m:sty m:val="p"/>
                      </m:rPr>
                      <a:rPr lang="en-US" sz="2400" b="0" i="1" dirty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endParaRPr lang="en-US" sz="2400" dirty="0">
                  <a:latin typeface="+mj-lt"/>
                </a:endParaRPr>
              </a:p>
              <a:p>
                <a:endParaRPr lang="en-US" sz="2400" dirty="0">
                  <a:latin typeface="+mj-lt"/>
                </a:endParaRPr>
              </a:p>
              <a:p>
                <a:r>
                  <a:rPr lang="en-US" sz="2400" dirty="0">
                    <a:latin typeface="+mj-lt"/>
                  </a:rPr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400" b="0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l-GR" sz="2400" b="0" i="1" dirty="0" smtClean="0">
                            <a:latin typeface="Cambria Math" panose="02040503050406030204" pitchFamily="18" charset="0"/>
                          </a:rPr>
                          <m:t>75</m:t>
                        </m:r>
                      </m:sub>
                    </m:sSub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l-GR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l-GR" sz="24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+1)</m:t>
                    </m:r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𝑡h</m:t>
                    </m:r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𝑡𝑒𝑟𝑚</m:t>
                    </m:r>
                    <m:r>
                      <a:rPr lang="el-GR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>
                  <a:latin typeface="+mj-lt"/>
                </a:endParaRPr>
              </a:p>
              <a:p>
                <a:r>
                  <a:rPr lang="en-US" sz="2400" dirty="0">
                    <a:latin typeface="+mj-lt"/>
                  </a:rPr>
                  <a:t>     </a:t>
                </a:r>
              </a:p>
              <a:p>
                <a:r>
                  <a:rPr lang="en-US" sz="2400" dirty="0">
                    <a:latin typeface="+mj-lt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75</m:t>
                        </m:r>
                      </m:sub>
                    </m:sSub>
                    <m:r>
                      <a:rPr lang="en-US" sz="2400" b="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2400" b="0" dirty="0">
                  <a:latin typeface="+mj-lt"/>
                </a:endParaRPr>
              </a:p>
              <a:p>
                <a:endParaRPr lang="en-US" sz="2400" dirty="0">
                  <a:latin typeface="+mj-lt"/>
                </a:endParaRPr>
              </a:p>
              <a:p>
                <a:r>
                  <a:rPr lang="en-US" sz="2400" dirty="0">
                    <a:latin typeface="+mj-lt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75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𝜒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∗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>
                  <a:latin typeface="+mj-lt"/>
                </a:endParaRPr>
              </a:p>
              <a:p>
                <a:endParaRPr lang="en-US" sz="2400" dirty="0">
                  <a:latin typeface="+mj-lt"/>
                </a:endParaRPr>
              </a:p>
              <a:p>
                <a:endParaRPr lang="en-US" sz="2400" dirty="0">
                  <a:latin typeface="+mj-lt"/>
                </a:endParaRPr>
              </a:p>
              <a:p>
                <a:endParaRPr lang="en-US" sz="2400" dirty="0">
                  <a:latin typeface="+mj-lt"/>
                </a:endParaRPr>
              </a:p>
              <a:p>
                <a:endParaRPr lang="en-US" sz="2400" dirty="0">
                  <a:latin typeface="+mj-lt"/>
                </a:endParaRPr>
              </a:p>
              <a:p>
                <a:endParaRPr lang="en-US" sz="2400" dirty="0">
                  <a:latin typeface="+mj-lt"/>
                </a:endParaRPr>
              </a:p>
              <a:p>
                <a:endParaRPr lang="en-US" sz="2400" dirty="0">
                  <a:latin typeface="+mj-lt"/>
                </a:endParaRPr>
              </a:p>
              <a:p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578" y="1770662"/>
                <a:ext cx="7441862" cy="5999078"/>
              </a:xfrm>
              <a:prstGeom prst="rect">
                <a:avLst/>
              </a:prstGeom>
              <a:blipFill>
                <a:blip r:embed="rId2"/>
                <a:stretch>
                  <a:fillRect l="-1310" t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3720" y="332656"/>
            <a:ext cx="2806080" cy="1163216"/>
          </a:xfrm>
        </p:spPr>
        <p:txBody>
          <a:bodyPr/>
          <a:lstStyle/>
          <a:p>
            <a:r>
              <a:rPr lang="en-US" dirty="0"/>
              <a:t>FORMULA USED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43608" y="1639888"/>
                <a:ext cx="7772400" cy="45254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/>
                  <a:t>6. Controller Status Decision Rule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𝐶𝑜𝑚𝑝𝑟𝑜𝑚𝑖𝑠𝑒𝑑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      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𝑆𝑎𝑓𝑒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                           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eqAr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1" dirty="0"/>
              </a:p>
              <a:p>
                <a:pPr>
                  <a:buNone/>
                </a:pPr>
                <a:r>
                  <a:rPr lang="en-US" sz="2400" dirty="0"/>
                  <a:t>7. Weighted Voting and Aggregation</a:t>
                </a:r>
              </a:p>
              <a:p>
                <a:pPr>
                  <a:buNone/>
                </a:pPr>
                <a:r>
                  <a:rPr lang="en-US" sz="2400" b="1" dirty="0"/>
                  <a:t>            </a:t>
                </a:r>
                <a14:m>
                  <m:oMath xmlns:m="http://schemas.openxmlformats.org/officeDocument/2006/math">
                    <m:r>
                      <a:rPr lang="el-GR" sz="2400" i="1" dirty="0" smtClean="0">
                        <a:latin typeface="Cambria Math" panose="02040503050406030204" pitchFamily="18" charset="0"/>
                      </a:rPr>
                      <m:t>𝜁</m:t>
                    </m:r>
                    <m:r>
                      <a:rPr lang="el-GR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nary>
                      <m:naryPr>
                        <m:chr m:val="∑"/>
                        <m:ctrlPr>
                          <a:rPr lang="el-GR" sz="24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sup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400" dirty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l-GR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l-GR" sz="2400" i="1" dirty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l-GR" sz="24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240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b="1" dirty="0"/>
              </a:p>
              <a:p>
                <a:pPr>
                  <a:buNone/>
                </a:pPr>
                <a:r>
                  <a:rPr lang="en-US" sz="2400" dirty="0"/>
                  <a:t>8. Confidence-Weighted Model Fusion</a:t>
                </a:r>
              </a:p>
              <a:p>
                <a:pPr>
                  <a:buNone/>
                </a:pP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latin typeface="Cambria Math" panose="02040503050406030204" pitchFamily="18" charset="0"/>
                      </a:rPr>
                      <m:t>             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𝜁</m:t>
                    </m:r>
                    <m:r>
                      <a:rPr lang="el-GR" sz="2400" dirty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el-GR" sz="24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l-GR" sz="2400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2400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l-GR" sz="2400" dirty="0">
                            <a:latin typeface="Cambria Math" panose="02040503050406030204" pitchFamily="18" charset="0"/>
                          </a:rPr>
                          <m:t> ∗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400" dirty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l-GR" sz="2400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l-GR" sz="2400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b="1" dirty="0"/>
              </a:p>
              <a:p>
                <a:pPr>
                  <a:buNone/>
                </a:pPr>
                <a:r>
                  <a:rPr lang="en-US" sz="2400" dirty="0"/>
                  <a:t>9. Controller Confidence Estimation</a:t>
                </a:r>
              </a:p>
              <a:p>
                <a:pPr>
                  <a:buNone/>
                </a:pPr>
                <a:r>
                  <a:rPr lang="en-US" sz="2400" dirty="0"/>
                  <a:t>     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𝐶𝑜𝑛𝑓𝑖𝑑𝑒𝑛𝑐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𝑀𝑒𝑎𝑛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𝑆𝑒𝑙𝑓𝐸𝑟𝑟𝑜</m:t>
                        </m:r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3608" y="1639888"/>
                <a:ext cx="7772400" cy="4525416"/>
              </a:xfrm>
              <a:blipFill>
                <a:blip r:embed="rId2"/>
                <a:stretch>
                  <a:fillRect l="-1176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2714EF-9CD2-2528-DABA-E6F886B1FE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08176" y="6320408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>
                <a:latin typeface="+mj-lt"/>
              </a:rPr>
              <a:t>Department of IT</a:t>
            </a:r>
            <a:endParaRPr 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3D0C01-0C73-5B7D-DB37-448F68898483}"/>
              </a:ext>
            </a:extLst>
          </p:cNvPr>
          <p:cNvSpPr txBox="1"/>
          <p:nvPr/>
        </p:nvSpPr>
        <p:spPr>
          <a:xfrm>
            <a:off x="3203848" y="556777"/>
            <a:ext cx="3456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FORMULAS USED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9B0331-3904-4BB4-7760-26EA0BE1503A}"/>
                  </a:ext>
                </a:extLst>
              </p:cNvPr>
              <p:cNvSpPr txBox="1"/>
              <p:nvPr/>
            </p:nvSpPr>
            <p:spPr>
              <a:xfrm>
                <a:off x="1115616" y="1523568"/>
                <a:ext cx="7920880" cy="4177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0" dirty="0">
                    <a:latin typeface="+mj-lt"/>
                  </a:rPr>
                  <a:t>10.</a:t>
                </a:r>
                <a:r>
                  <a:rPr lang="en-US" sz="2400" dirty="0"/>
                  <a:t> </a:t>
                </a:r>
                <a:r>
                  <a:rPr lang="en-US" sz="2400" b="0" dirty="0">
                    <a:latin typeface="+mj-lt"/>
                  </a:rPr>
                  <a:t>Cumulative Detection, Model, and Communication Cost</a:t>
                </a:r>
              </a:p>
              <a:p>
                <a:r>
                  <a:rPr lang="en-US" sz="2400" b="0" dirty="0">
                    <a:latin typeface="+mj-lt"/>
                  </a:rPr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= </m:t>
                    </m:r>
                    <m:nary>
                      <m:naryPr>
                        <m:chr m:val="∑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𝑇𝑟</m:t>
                            </m:r>
                          </m:sub>
                        </m:sSub>
                      </m:e>
                    </m:nary>
                  </m:oMath>
                </a14:m>
                <a:endParaRPr lang="en-US" sz="2400" b="0" dirty="0">
                  <a:latin typeface="+mj-lt"/>
                </a:endParaRPr>
              </a:p>
              <a:p>
                <a:r>
                  <a:rPr lang="en-US" sz="2400" b="0" dirty="0">
                    <a:latin typeface="+mj-lt"/>
                  </a:rPr>
                  <a:t>             </a:t>
                </a:r>
              </a:p>
              <a:p>
                <a:r>
                  <a:rPr lang="en-US" sz="2400" b="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              </m:t>
                    </m:r>
                    <m:sSub>
                      <m:sSubPr>
                        <m:ctrlPr>
                          <a:rPr lang="en-US" sz="2400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sz="2400" b="0" i="1" dirty="0">
                        <a:latin typeface="Cambria Math" panose="02040503050406030204" pitchFamily="18" charset="0"/>
                      </a:rPr>
                      <m:t> = </m:t>
                    </m:r>
                    <m:nary>
                      <m:naryPr>
                        <m:chr m:val="∑"/>
                        <m:ctrlPr>
                          <a:rPr lang="en-US" sz="2400" b="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sz="24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400" b="0" i="1" dirty="0">
                                <a:latin typeface="Cambria Math" panose="02040503050406030204" pitchFamily="18" charset="0"/>
                              </a:rPr>
                              <m:t>𝑇𝑟</m:t>
                            </m:r>
                          </m:sub>
                        </m:sSub>
                      </m:e>
                    </m:nary>
                  </m:oMath>
                </a14:m>
                <a:endParaRPr lang="en-US" sz="2400" b="0" dirty="0">
                  <a:latin typeface="+mj-lt"/>
                </a:endParaRPr>
              </a:p>
              <a:p>
                <a:endParaRPr lang="en-US" sz="2400" b="0" dirty="0">
                  <a:latin typeface="+mj-lt"/>
                </a:endParaRPr>
              </a:p>
              <a:p>
                <a:r>
                  <a:rPr lang="en-US" sz="2400" b="0" dirty="0">
                    <a:latin typeface="+mj-lt"/>
                  </a:rPr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sz="2400" b="0" i="1" dirty="0">
                        <a:latin typeface="Cambria Math" panose="02040503050406030204" pitchFamily="18" charset="0"/>
                      </a:rPr>
                      <m:t> = </m:t>
                    </m:r>
                    <m:nary>
                      <m:naryPr>
                        <m:chr m:val="∑"/>
                        <m:ctrlPr>
                          <a:rPr lang="en-US" sz="2400" b="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sz="24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dirty="0">
                                <a:latin typeface="Cambria Math" panose="02040503050406030204" pitchFamily="18" charset="0"/>
                              </a:rPr>
                              <m:t>𝑇𝑟</m:t>
                            </m:r>
                          </m:sub>
                        </m:sSub>
                      </m:e>
                    </m:nary>
                  </m:oMath>
                </a14:m>
                <a:endParaRPr lang="en-US" sz="2400" b="0" dirty="0">
                  <a:latin typeface="+mj-lt"/>
                </a:endParaRPr>
              </a:p>
              <a:p>
                <a:endParaRPr lang="en-US" sz="2400" b="0" dirty="0">
                  <a:latin typeface="+mj-lt"/>
                </a:endParaRPr>
              </a:p>
              <a:p>
                <a:r>
                  <a:rPr lang="en-US" sz="2400" b="0" dirty="0">
                    <a:latin typeface="+mj-lt"/>
                  </a:rPr>
                  <a:t>11. Overall Cost Evaluation</a:t>
                </a:r>
              </a:p>
              <a:p>
                <a:r>
                  <a:rPr lang="en-US" sz="2400" b="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             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2400" b="0" i="1" dirty="0">
                        <a:latin typeface="Cambria Math" panose="02040503050406030204" pitchFamily="18" charset="0"/>
                      </a:rPr>
                      <m:t> +(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2400" b="0" i="1" dirty="0">
                        <a:latin typeface="Cambria Math" panose="02040503050406030204" pitchFamily="18" charset="0"/>
                      </a:rPr>
                      <m:t> ∗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0" dirty="0">
                  <a:latin typeface="+mj-lt"/>
                </a:endParaRPr>
              </a:p>
              <a:p>
                <a:endParaRPr lang="en-US" sz="2400" b="0" dirty="0">
                  <a:latin typeface="+mj-lt"/>
                </a:endParaRPr>
              </a:p>
              <a:p>
                <a:r>
                  <a:rPr lang="en-US" sz="2400" b="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             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sz="2400" b="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2400" b="0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9B0331-3904-4BB4-7760-26EA0BE15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1523568"/>
                <a:ext cx="7920880" cy="4177490"/>
              </a:xfrm>
              <a:prstGeom prst="rect">
                <a:avLst/>
              </a:prstGeom>
              <a:blipFill>
                <a:blip r:embed="rId2"/>
                <a:stretch>
                  <a:fillRect l="-1155" t="-5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4790184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210362"/>
            <a:ext cx="5781021" cy="560104"/>
          </a:xfrm>
        </p:spPr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195" y="739713"/>
            <a:ext cx="7314036" cy="560104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/>
              <a:t>CBMF Algorithm – Controller Side:</a:t>
            </a:r>
            <a:endParaRPr lang="en-IN" sz="2400" dirty="0"/>
          </a:p>
          <a:p>
            <a:pPr>
              <a:buNone/>
            </a:pPr>
            <a:endParaRPr lang="en-US" sz="1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IT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4A5C2E9-94C9-0B75-74DE-DF1E08864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156" y="1173283"/>
            <a:ext cx="8587865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Train local ML model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using the controller’s own network traffic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Compute self-error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from validation results and derive confidence score.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Receive peer models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from other controllers through the Command Center.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Evaluate peer models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on local data to calculate cross-evaluation errors.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Detect outliers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among peer controllers using the IQR-based method.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Generate weighted votes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for suspicious controllers based on confidence.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Send weighted votes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confidence values to the Command Center for aggregation.</a:t>
            </a:r>
          </a:p>
        </p:txBody>
      </p:sp>
    </p:spTree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04909"/>
            <a:ext cx="7772400" cy="1143000"/>
          </a:xfrm>
        </p:spPr>
        <p:txBody>
          <a:bodyPr/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ALGORITHM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sz="1800" dirty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727AC64-1A7D-B90C-29C6-97648E2AA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555E4BA-83AC-544F-DE6F-2EDBBA2CF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1317077"/>
            <a:ext cx="7772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2400" dirty="0">
                <a:latin typeface="+mj-lt"/>
              </a:rPr>
              <a:t>Command Center Side: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8938232-7390-B15B-E2C6-318E9DF64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1931142"/>
            <a:ext cx="734481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Receive weighted votes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from all controllers (each includes suspect ID and confidence).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Aggregate votes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to compute a global suspicion score for each controller.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Normalize scores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for fairness across varying confidence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Apply thresholding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(IQR or percentile-based) to isolate suspicious controllers.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Report compromised controllers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to the admin or monitoring system.</a:t>
            </a:r>
          </a:p>
        </p:txBody>
      </p:sp>
    </p:spTree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190500"/>
            <a:ext cx="7772400" cy="1143000"/>
          </a:xfrm>
        </p:spPr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556792"/>
            <a:ext cx="7772400" cy="4114800"/>
          </a:xfrm>
        </p:spPr>
        <p:txBody>
          <a:bodyPr/>
          <a:lstStyle/>
          <a:p>
            <a:pPr lvl="0"/>
            <a:r>
              <a:rPr lang="en-US" sz="2400" b="1" dirty="0"/>
              <a:t>University of Nevada - Reno Intrusion Detection Dataset (UNR-IDD)</a:t>
            </a:r>
          </a:p>
          <a:p>
            <a:r>
              <a:rPr lang="en-IN" sz="2000" b="1" dirty="0"/>
              <a:t>Description</a:t>
            </a:r>
            <a:r>
              <a:rPr lang="en-IN" sz="2000" dirty="0"/>
              <a:t>: </a:t>
            </a:r>
            <a:r>
              <a:rPr lang="en-US" sz="2000" dirty="0"/>
              <a:t>The data includes various metrics related to network ports, packets, and bytes, along with timestamps and error counts.</a:t>
            </a:r>
          </a:p>
          <a:p>
            <a:r>
              <a:rPr lang="en-US" sz="2000" dirty="0"/>
              <a:t>It also contains information about connection points, load rates, and flow entries.</a:t>
            </a:r>
            <a:endParaRPr lang="en-IN" sz="2000" dirty="0"/>
          </a:p>
          <a:p>
            <a:pPr lvl="0"/>
            <a:r>
              <a:rPr lang="en-IN" sz="2400" b="1" dirty="0"/>
              <a:t>Fields</a:t>
            </a:r>
            <a:r>
              <a:rPr lang="en-IN" sz="2400" dirty="0"/>
              <a:t>: 35</a:t>
            </a:r>
          </a:p>
          <a:p>
            <a:pPr lvl="0"/>
            <a:r>
              <a:rPr lang="en-IN" sz="2400" b="1" dirty="0"/>
              <a:t>Size</a:t>
            </a:r>
            <a:r>
              <a:rPr lang="en-IN" sz="2400" dirty="0"/>
              <a:t>: 38KB</a:t>
            </a:r>
          </a:p>
          <a:p>
            <a:pPr lvl="0"/>
            <a:r>
              <a:rPr lang="en-IN" sz="2400" b="1" dirty="0"/>
              <a:t>Source</a:t>
            </a:r>
            <a:r>
              <a:rPr lang="en-IN" sz="2400" dirty="0"/>
              <a:t>: Kaggle</a:t>
            </a:r>
          </a:p>
          <a:p>
            <a:pPr marL="0" lvl="0" indent="0">
              <a:buNone/>
            </a:pPr>
            <a:endParaRPr lang="en-IN" sz="2000" dirty="0">
              <a:solidFill>
                <a:srgbClr val="0000FF"/>
              </a:solidFill>
            </a:endParaRPr>
          </a:p>
          <a:p>
            <a:pPr marL="0" lvl="0" indent="0" algn="ctr">
              <a:buNone/>
            </a:pPr>
            <a:r>
              <a:rPr lang="en-IN" sz="2400" dirty="0">
                <a:solidFill>
                  <a:schemeClr val="accent2">
                    <a:lumMod val="50000"/>
                  </a:schemeClr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UNR-IDD.xlsx</a:t>
            </a:r>
            <a:endParaRPr lang="en-IN" sz="2400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</p:spTree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048E4-A238-FA64-FB78-802379E1B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B2AAE-C7F3-7186-4DD4-12175926D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24E594-805D-04B2-90DD-F05FB5FBDA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4071194-2521-AF37-4399-7FE524136F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4056" y="2459504"/>
            <a:ext cx="799065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CBMF enhances TAPD by adding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trust-based voting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Provides robust detection of poisoned controllers.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Ensures high accuracy, privacy, and fault tolerance in MSDNs.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Future work: adaptive confidence recalibration and hybrid anomaly models.</a:t>
            </a:r>
          </a:p>
        </p:txBody>
      </p:sp>
    </p:spTree>
    <p:extLst>
      <p:ext uri="{BB962C8B-B14F-4D97-AF65-F5344CB8AC3E}">
        <p14:creationId xmlns:p14="http://schemas.microsoft.com/office/powerpoint/2010/main" val="3036129007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1237E94-5681-E26E-3471-E67570BDEA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348880"/>
            <a:ext cx="827868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CBMF improves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accuracy by 6%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F1 score by 7%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over TAPD.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Confidence weighting reduces false positives.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Maintains detection performance even with 3 compromised controllers.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Overhead increase: only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~6.4% runtime cost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</p:txBody>
      </p:sp>
    </p:spTree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IT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857356" y="2143116"/>
            <a:ext cx="55007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200" dirty="0">
              <a:latin typeface="+mj-lt"/>
            </a:endParaRPr>
          </a:p>
          <a:p>
            <a:pPr algn="ctr"/>
            <a:r>
              <a:rPr lang="en-US" sz="3200" dirty="0">
                <a:latin typeface="+mj-lt"/>
              </a:rPr>
              <a:t>THANK YOU</a:t>
            </a:r>
          </a:p>
        </p:txBody>
      </p:sp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1857</TotalTime>
  <Words>1306</Words>
  <Application>Microsoft Office PowerPoint</Application>
  <PresentationFormat>On-screen Show (4:3)</PresentationFormat>
  <Paragraphs>225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Cambria Math</vt:lpstr>
      <vt:lpstr>Times New Roman</vt:lpstr>
      <vt:lpstr>Verdana</vt:lpstr>
      <vt:lpstr>Default Design</vt:lpstr>
      <vt:lpstr>Custom Design</vt:lpstr>
      <vt:lpstr>PowerPoint Presentation</vt:lpstr>
      <vt:lpstr>AIM</vt:lpstr>
      <vt:lpstr>OBJECTIVES</vt:lpstr>
      <vt:lpstr> NETWORKING CONCEPT </vt:lpstr>
      <vt:lpstr>SOFTWARE ENGINEERING CONCEPT</vt:lpstr>
      <vt:lpstr>DATA MINING CONCEPT</vt:lpstr>
      <vt:lpstr>LITERATURE SURVEY Existing TAPD Framework</vt:lpstr>
      <vt:lpstr>LITERATURE SURVEY Confidence-Based Fusion Approaches</vt:lpstr>
      <vt:lpstr> LITERATURE SURVEY Proposed CBMF System  </vt:lpstr>
      <vt:lpstr>OVERALL WORKFLOW </vt:lpstr>
      <vt:lpstr>MODULES</vt:lpstr>
      <vt:lpstr>MODEL TRAINING</vt:lpstr>
      <vt:lpstr>MODEL TRANSFER</vt:lpstr>
      <vt:lpstr>CROSS EVALUATION</vt:lpstr>
      <vt:lpstr>WEIGHTED VOTING</vt:lpstr>
      <vt:lpstr>FINAL AGGREGATION</vt:lpstr>
      <vt:lpstr>CONFIDENCE SCORING</vt:lpstr>
      <vt:lpstr>FORMULA USED</vt:lpstr>
      <vt:lpstr>FORMULA USED </vt:lpstr>
      <vt:lpstr>FORMULA USED</vt:lpstr>
      <vt:lpstr>PowerPoint Presentation</vt:lpstr>
      <vt:lpstr>ALGORITHM</vt:lpstr>
      <vt:lpstr>  ALGORITHM  </vt:lpstr>
      <vt:lpstr>DATASET</vt:lpstr>
      <vt:lpstr>CONCLUSION</vt:lpstr>
      <vt:lpstr>EXPERIMENTAL RESULTS</vt:lpstr>
      <vt:lpstr>PowerPoint Presentation</vt:lpstr>
    </vt:vector>
  </TitlesOfParts>
  <Company>rightgen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rightgen2</dc:creator>
  <cp:lastModifiedBy>ShreeHarini K</cp:lastModifiedBy>
  <cp:revision>442</cp:revision>
  <dcterms:created xsi:type="dcterms:W3CDTF">2001-09-21T16:07:00Z</dcterms:created>
  <dcterms:modified xsi:type="dcterms:W3CDTF">2025-11-05T03:06:02Z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FFA223BADA5241399B71DD871E247156_12</vt:lpwstr>
  </property>
  <property fmtid="{D5CDD505-2E9C-101B-9397-08002B2CF9AE}" pid="3" name="KSOProductBuildVer">
    <vt:lpwstr>1033-12.2.0.13359</vt:lpwstr>
  </property>
</Properties>
</file>