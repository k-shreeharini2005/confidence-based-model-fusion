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1" r:id="rId2"/>
  </p:sldMasterIdLst>
  <p:notesMasterIdLst>
    <p:notesMasterId r:id="rId20"/>
  </p:notesMasterIdLst>
  <p:handoutMasterIdLst>
    <p:handoutMasterId r:id="rId21"/>
  </p:handoutMasterIdLst>
  <p:sldIdLst>
    <p:sldId id="256" r:id="rId3"/>
    <p:sldId id="501" r:id="rId4"/>
    <p:sldId id="502" r:id="rId5"/>
    <p:sldId id="511" r:id="rId6"/>
    <p:sldId id="542" r:id="rId7"/>
    <p:sldId id="513" r:id="rId8"/>
    <p:sldId id="515" r:id="rId9"/>
    <p:sldId id="532" r:id="rId10"/>
    <p:sldId id="540" r:id="rId11"/>
    <p:sldId id="541" r:id="rId12"/>
    <p:sldId id="534" r:id="rId13"/>
    <p:sldId id="535" r:id="rId14"/>
    <p:sldId id="539" r:id="rId15"/>
    <p:sldId id="536" r:id="rId16"/>
    <p:sldId id="533" r:id="rId17"/>
    <p:sldId id="538" r:id="rId18"/>
    <p:sldId id="537" r:id="rId19"/>
  </p:sldIdLst>
  <p:sldSz cx="9144000" cy="6858000" type="screen4x3"/>
  <p:notesSz cx="6858000" cy="9144000"/>
  <p:embeddedFontLst>
    <p:embeddedFont>
      <p:font typeface="Verdana" panose="020B0604030504040204" pitchFamily="34" charset="0"/>
      <p:regular r:id="rId22"/>
      <p:bold r:id="rId23"/>
      <p:italic r:id="rId24"/>
      <p:boldItalic r:id="rId25"/>
    </p:embeddedFont>
  </p:embeddedFontLst>
  <p:defaultTextStyle>
    <a:defPPr>
      <a:defRPr lang="en-US"/>
    </a:defPPr>
    <a:lvl1pPr algn="l" rtl="0" eaLnBrk="0" fontAlgn="base" hangingPunct="0">
      <a:spcBef>
        <a:spcPct val="0"/>
      </a:spcBef>
      <a:spcAft>
        <a:spcPct val="0"/>
      </a:spcAft>
      <a:defRPr sz="1200" b="1" kern="1200">
        <a:solidFill>
          <a:schemeClr val="tx1"/>
        </a:solidFill>
        <a:latin typeface="Verdan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sz="1200" b="1" kern="1200">
        <a:solidFill>
          <a:schemeClr val="tx1"/>
        </a:solidFill>
        <a:latin typeface="Verdan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sz="1200" b="1" kern="1200">
        <a:solidFill>
          <a:schemeClr val="tx1"/>
        </a:solidFill>
        <a:latin typeface="Verdan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sz="1200" b="1" kern="1200">
        <a:solidFill>
          <a:schemeClr val="tx1"/>
        </a:solidFill>
        <a:latin typeface="Verdan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sz="1200" b="1" kern="1200">
        <a:solidFill>
          <a:schemeClr val="tx1"/>
        </a:solidFill>
        <a:latin typeface="Verdana" panose="020B0604030504040204" pitchFamily="34" charset="0"/>
        <a:ea typeface="+mn-ea"/>
        <a:cs typeface="Arial" panose="020B0604020202020204" pitchFamily="34" charset="0"/>
      </a:defRPr>
    </a:lvl5pPr>
    <a:lvl6pPr marL="2286000" algn="l" defTabSz="914400" rtl="0" eaLnBrk="1" latinLnBrk="0" hangingPunct="1">
      <a:defRPr sz="1200" b="1" kern="1200">
        <a:solidFill>
          <a:schemeClr val="tx1"/>
        </a:solidFill>
        <a:latin typeface="Verdana" panose="020B0604030504040204" pitchFamily="34" charset="0"/>
        <a:ea typeface="+mn-ea"/>
        <a:cs typeface="Arial" panose="020B0604020202020204" pitchFamily="34" charset="0"/>
      </a:defRPr>
    </a:lvl6pPr>
    <a:lvl7pPr marL="2743200" algn="l" defTabSz="914400" rtl="0" eaLnBrk="1" latinLnBrk="0" hangingPunct="1">
      <a:defRPr sz="1200" b="1" kern="1200">
        <a:solidFill>
          <a:schemeClr val="tx1"/>
        </a:solidFill>
        <a:latin typeface="Verdana" panose="020B0604030504040204" pitchFamily="34" charset="0"/>
        <a:ea typeface="+mn-ea"/>
        <a:cs typeface="Arial" panose="020B0604020202020204" pitchFamily="34" charset="0"/>
      </a:defRPr>
    </a:lvl7pPr>
    <a:lvl8pPr marL="3200400" algn="l" defTabSz="914400" rtl="0" eaLnBrk="1" latinLnBrk="0" hangingPunct="1">
      <a:defRPr sz="1200" b="1" kern="1200">
        <a:solidFill>
          <a:schemeClr val="tx1"/>
        </a:solidFill>
        <a:latin typeface="Verdana" panose="020B0604030504040204" pitchFamily="34" charset="0"/>
        <a:ea typeface="+mn-ea"/>
        <a:cs typeface="Arial" panose="020B0604020202020204" pitchFamily="34" charset="0"/>
      </a:defRPr>
    </a:lvl8pPr>
    <a:lvl9pPr marL="3657600" algn="l" defTabSz="914400" rtl="0" eaLnBrk="1" latinLnBrk="0" hangingPunct="1">
      <a:defRPr sz="1200" b="1" kern="1200">
        <a:solidFill>
          <a:schemeClr val="tx1"/>
        </a:solidFill>
        <a:latin typeface="Verdana" panose="020B060403050404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217"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B0D08D"/>
    <a:srgbClr val="9DD16F"/>
    <a:srgbClr val="FBFE12"/>
    <a:srgbClr val="98E044"/>
    <a:srgbClr val="6FB81F"/>
    <a:srgbClr val="F896FE"/>
    <a:srgbClr val="66FF33"/>
    <a:srgbClr val="0000FF"/>
    <a:srgbClr val="FF0000"/>
    <a:srgbClr val="F89E5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241" autoAdjust="0"/>
    <p:restoredTop sz="95881" autoAdjust="0"/>
  </p:normalViewPr>
  <p:slideViewPr>
    <p:cSldViewPr showGuides="1">
      <p:cViewPr varScale="1">
        <p:scale>
          <a:sx n="85" d="100"/>
          <a:sy n="85" d="100"/>
        </p:scale>
        <p:origin x="1306" y="53"/>
      </p:cViewPr>
      <p:guideLst>
        <p:guide orient="horz" pos="2217"/>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4.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3.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2.fntdata"/><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1.fntdata"/><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EC2B24-24B2-4979-A2D8-F6A4B3529748}" type="doc">
      <dgm:prSet loTypeId="urn:microsoft.com/office/officeart/2005/8/layout/process4" loCatId="list" qsTypeId="urn:microsoft.com/office/officeart/2005/8/quickstyle/simple1" qsCatId="simple" csTypeId="urn:microsoft.com/office/officeart/2005/8/colors/accent1_2" csCatId="accent1"/>
      <dgm:spPr/>
      <dgm:t>
        <a:bodyPr/>
        <a:lstStyle/>
        <a:p>
          <a:endParaRPr lang="en-IN"/>
        </a:p>
      </dgm:t>
    </dgm:pt>
    <dgm:pt modelId="{A00662CC-EB03-468B-AAA5-88FC6A029506}">
      <dgm:prSet/>
      <dgm:spPr/>
      <dgm:t>
        <a:bodyPr/>
        <a:lstStyle/>
        <a:p>
          <a:r>
            <a:rPr lang="en-US" b="1" i="0" baseline="0" dirty="0"/>
            <a:t>Send Request</a:t>
          </a:r>
          <a:br>
            <a:rPr lang="en-US" b="0" i="0" baseline="0" dirty="0"/>
          </a:br>
          <a:r>
            <a:rPr lang="en-US" b="0" i="0" baseline="0" dirty="0"/>
            <a:t>Command Center → Controllers</a:t>
          </a:r>
          <a:endParaRPr lang="en-IN" dirty="0"/>
        </a:p>
      </dgm:t>
    </dgm:pt>
    <dgm:pt modelId="{392095AE-46BB-4312-BD43-8D02E9D3AD7D}" type="parTrans" cxnId="{B74D589B-F65E-43DD-A853-3A351D0C98EE}">
      <dgm:prSet/>
      <dgm:spPr/>
      <dgm:t>
        <a:bodyPr/>
        <a:lstStyle/>
        <a:p>
          <a:endParaRPr lang="en-IN"/>
        </a:p>
      </dgm:t>
    </dgm:pt>
    <dgm:pt modelId="{DD50BCF5-C257-4BFF-BBD7-9120741A7DB7}" type="sibTrans" cxnId="{B74D589B-F65E-43DD-A853-3A351D0C98EE}">
      <dgm:prSet/>
      <dgm:spPr/>
      <dgm:t>
        <a:bodyPr/>
        <a:lstStyle/>
        <a:p>
          <a:endParaRPr lang="en-IN"/>
        </a:p>
      </dgm:t>
    </dgm:pt>
    <dgm:pt modelId="{49B7D2D9-9AF8-47B8-8462-A47D2171F903}">
      <dgm:prSet/>
      <dgm:spPr/>
      <dgm:t>
        <a:bodyPr/>
        <a:lstStyle/>
        <a:p>
          <a:r>
            <a:rPr lang="en-US" b="1" i="0" baseline="0" dirty="0"/>
            <a:t>ML Model Transfer</a:t>
          </a:r>
          <a:br>
            <a:rPr lang="en-US" b="0" i="0" baseline="0" dirty="0"/>
          </a:br>
          <a:r>
            <a:rPr lang="en-US" b="0" i="0" baseline="0" dirty="0"/>
            <a:t>Controllers Exchange Models</a:t>
          </a:r>
          <a:endParaRPr lang="en-IN" dirty="0"/>
        </a:p>
      </dgm:t>
    </dgm:pt>
    <dgm:pt modelId="{2C985B5F-EF43-4C79-B162-1089EBA0CBC8}" type="parTrans" cxnId="{757F67E7-C6E4-4729-9CAE-7C8E1C80ED3E}">
      <dgm:prSet/>
      <dgm:spPr/>
      <dgm:t>
        <a:bodyPr/>
        <a:lstStyle/>
        <a:p>
          <a:endParaRPr lang="en-IN"/>
        </a:p>
      </dgm:t>
    </dgm:pt>
    <dgm:pt modelId="{0A40A7C7-1282-4637-809A-1C5AC1629C65}" type="sibTrans" cxnId="{757F67E7-C6E4-4729-9CAE-7C8E1C80ED3E}">
      <dgm:prSet/>
      <dgm:spPr/>
      <dgm:t>
        <a:bodyPr/>
        <a:lstStyle/>
        <a:p>
          <a:endParaRPr lang="en-IN"/>
        </a:p>
      </dgm:t>
    </dgm:pt>
    <dgm:pt modelId="{4C03CB23-AA9D-454A-B5FC-FF446F73BE7A}">
      <dgm:prSet/>
      <dgm:spPr/>
      <dgm:t>
        <a:bodyPr/>
        <a:lstStyle/>
        <a:p>
          <a:r>
            <a:rPr lang="en-US" b="1" i="0" baseline="0"/>
            <a:t>MAD Pre-Analysis</a:t>
          </a:r>
          <a:br>
            <a:rPr lang="en-US" b="0" i="0" baseline="0"/>
          </a:br>
          <a:r>
            <a:rPr lang="en-US" b="0" i="0" baseline="0"/>
            <a:t>Estimate Compromise Level</a:t>
          </a:r>
          <a:endParaRPr lang="en-IN"/>
        </a:p>
      </dgm:t>
    </dgm:pt>
    <dgm:pt modelId="{02AAD154-A3B0-47B3-98DF-8C29F5CB3DB4}" type="parTrans" cxnId="{03639CA3-D35C-4DB5-9647-27492293FA60}">
      <dgm:prSet/>
      <dgm:spPr/>
      <dgm:t>
        <a:bodyPr/>
        <a:lstStyle/>
        <a:p>
          <a:endParaRPr lang="en-IN"/>
        </a:p>
      </dgm:t>
    </dgm:pt>
    <dgm:pt modelId="{096490ED-9E02-48D2-949A-8F0CE6F2E347}" type="sibTrans" cxnId="{03639CA3-D35C-4DB5-9647-27492293FA60}">
      <dgm:prSet/>
      <dgm:spPr/>
      <dgm:t>
        <a:bodyPr/>
        <a:lstStyle/>
        <a:p>
          <a:endParaRPr lang="en-IN"/>
        </a:p>
      </dgm:t>
    </dgm:pt>
    <dgm:pt modelId="{6BBCE8D1-2B54-465C-84AF-E58A196A36A4}">
      <dgm:prSet/>
      <dgm:spPr/>
      <dgm:t>
        <a:bodyPr/>
        <a:lstStyle/>
        <a:p>
          <a:r>
            <a:rPr lang="en-US" b="1" i="0" baseline="0"/>
            <a:t>Adaptive Detection</a:t>
          </a:r>
          <a:br>
            <a:rPr lang="en-US" b="0" i="0" baseline="0"/>
          </a:br>
          <a:r>
            <a:rPr lang="en-US" b="0" i="0" baseline="0"/>
            <a:t>IQR or MAD Method</a:t>
          </a:r>
          <a:endParaRPr lang="en-IN"/>
        </a:p>
      </dgm:t>
    </dgm:pt>
    <dgm:pt modelId="{E24CAAD3-9707-4C23-B3D6-449AB89016C5}" type="parTrans" cxnId="{C6C945E8-2D7A-42A3-AB4D-208987887839}">
      <dgm:prSet/>
      <dgm:spPr/>
      <dgm:t>
        <a:bodyPr/>
        <a:lstStyle/>
        <a:p>
          <a:endParaRPr lang="en-IN"/>
        </a:p>
      </dgm:t>
    </dgm:pt>
    <dgm:pt modelId="{CF3D1B2E-33B2-4C99-8A7B-6002645FEE8E}" type="sibTrans" cxnId="{C6C945E8-2D7A-42A3-AB4D-208987887839}">
      <dgm:prSet/>
      <dgm:spPr/>
      <dgm:t>
        <a:bodyPr/>
        <a:lstStyle/>
        <a:p>
          <a:endParaRPr lang="en-IN"/>
        </a:p>
      </dgm:t>
    </dgm:pt>
    <dgm:pt modelId="{C26DBC2D-2D97-4685-836E-D5D9E7072663}">
      <dgm:prSet/>
      <dgm:spPr/>
      <dgm:t>
        <a:bodyPr/>
        <a:lstStyle/>
        <a:p>
          <a:r>
            <a:rPr lang="en-US" b="1" i="0" baseline="0"/>
            <a:t>Enhanced Voting</a:t>
          </a:r>
          <a:br>
            <a:rPr lang="en-US" b="0" i="0" baseline="0"/>
          </a:br>
          <a:r>
            <a:rPr lang="en-US" b="0" i="0" baseline="0"/>
            <a:t>Confidence-Weighted</a:t>
          </a:r>
          <a:endParaRPr lang="en-IN"/>
        </a:p>
      </dgm:t>
    </dgm:pt>
    <dgm:pt modelId="{9020059D-EDD5-4369-8F58-BF8F8054DC9C}" type="parTrans" cxnId="{8206A6C6-38BB-47FA-84AF-3C7BBDFBFC71}">
      <dgm:prSet/>
      <dgm:spPr/>
      <dgm:t>
        <a:bodyPr/>
        <a:lstStyle/>
        <a:p>
          <a:endParaRPr lang="en-IN"/>
        </a:p>
      </dgm:t>
    </dgm:pt>
    <dgm:pt modelId="{5C1D6F8F-1457-40EF-9C44-0B444E67AD49}" type="sibTrans" cxnId="{8206A6C6-38BB-47FA-84AF-3C7BBDFBFC71}">
      <dgm:prSet/>
      <dgm:spPr/>
      <dgm:t>
        <a:bodyPr/>
        <a:lstStyle/>
        <a:p>
          <a:endParaRPr lang="en-IN"/>
        </a:p>
      </dgm:t>
    </dgm:pt>
    <dgm:pt modelId="{8A57C096-900B-463A-B700-EF6716D55ED4}">
      <dgm:prSet/>
      <dgm:spPr/>
      <dgm:t>
        <a:bodyPr/>
        <a:lstStyle/>
        <a:p>
          <a:r>
            <a:rPr lang="en-US" b="1" i="0" baseline="0"/>
            <a:t>Final Detection</a:t>
          </a:r>
          <a:br>
            <a:rPr lang="en-US" b="0" i="0" baseline="0"/>
          </a:br>
          <a:r>
            <a:rPr lang="en-US" b="0" i="0" baseline="0"/>
            <a:t>Multi-Criteria Decision</a:t>
          </a:r>
          <a:endParaRPr lang="en-IN"/>
        </a:p>
      </dgm:t>
    </dgm:pt>
    <dgm:pt modelId="{4E9F2E43-BA58-43FD-821F-B780A57648C9}" type="parTrans" cxnId="{AC79516E-3617-4F59-A284-1A3C823B3528}">
      <dgm:prSet/>
      <dgm:spPr/>
      <dgm:t>
        <a:bodyPr/>
        <a:lstStyle/>
        <a:p>
          <a:endParaRPr lang="en-IN"/>
        </a:p>
      </dgm:t>
    </dgm:pt>
    <dgm:pt modelId="{936A0952-8BA4-4F49-93F0-66059076A4B6}" type="sibTrans" cxnId="{AC79516E-3617-4F59-A284-1A3C823B3528}">
      <dgm:prSet/>
      <dgm:spPr/>
      <dgm:t>
        <a:bodyPr/>
        <a:lstStyle/>
        <a:p>
          <a:endParaRPr lang="en-IN"/>
        </a:p>
      </dgm:t>
    </dgm:pt>
    <dgm:pt modelId="{859BF240-ACC5-47DB-8624-0A0213CD9555}" type="pres">
      <dgm:prSet presAssocID="{2BEC2B24-24B2-4979-A2D8-F6A4B3529748}" presName="Name0" presStyleCnt="0">
        <dgm:presLayoutVars>
          <dgm:dir/>
          <dgm:animLvl val="lvl"/>
          <dgm:resizeHandles val="exact"/>
        </dgm:presLayoutVars>
      </dgm:prSet>
      <dgm:spPr/>
    </dgm:pt>
    <dgm:pt modelId="{3BEB6B56-38E5-4A83-945C-871E71FC024B}" type="pres">
      <dgm:prSet presAssocID="{8A57C096-900B-463A-B700-EF6716D55ED4}" presName="boxAndChildren" presStyleCnt="0"/>
      <dgm:spPr/>
    </dgm:pt>
    <dgm:pt modelId="{896C8DD3-2A07-4D5D-9359-6E4F10A1A632}" type="pres">
      <dgm:prSet presAssocID="{8A57C096-900B-463A-B700-EF6716D55ED4}" presName="parentTextBox" presStyleLbl="node1" presStyleIdx="0" presStyleCnt="6"/>
      <dgm:spPr/>
    </dgm:pt>
    <dgm:pt modelId="{6B9E9B9C-852B-459B-98D0-C128C7F22EFC}" type="pres">
      <dgm:prSet presAssocID="{5C1D6F8F-1457-40EF-9C44-0B444E67AD49}" presName="sp" presStyleCnt="0"/>
      <dgm:spPr/>
    </dgm:pt>
    <dgm:pt modelId="{0D28F47C-AAC1-4247-8F88-29F17153A7EF}" type="pres">
      <dgm:prSet presAssocID="{C26DBC2D-2D97-4685-836E-D5D9E7072663}" presName="arrowAndChildren" presStyleCnt="0"/>
      <dgm:spPr/>
    </dgm:pt>
    <dgm:pt modelId="{0F0BC748-C96D-4534-8324-ECE73881EECB}" type="pres">
      <dgm:prSet presAssocID="{C26DBC2D-2D97-4685-836E-D5D9E7072663}" presName="parentTextArrow" presStyleLbl="node1" presStyleIdx="1" presStyleCnt="6"/>
      <dgm:spPr/>
    </dgm:pt>
    <dgm:pt modelId="{46306C72-B1C1-4A30-BF7D-4AF89B7EE571}" type="pres">
      <dgm:prSet presAssocID="{CF3D1B2E-33B2-4C99-8A7B-6002645FEE8E}" presName="sp" presStyleCnt="0"/>
      <dgm:spPr/>
    </dgm:pt>
    <dgm:pt modelId="{5163A494-D156-4FEC-BA03-70D9E1B32A4D}" type="pres">
      <dgm:prSet presAssocID="{6BBCE8D1-2B54-465C-84AF-E58A196A36A4}" presName="arrowAndChildren" presStyleCnt="0"/>
      <dgm:spPr/>
    </dgm:pt>
    <dgm:pt modelId="{4C105B45-009F-4F22-9E0A-1D56A299FF80}" type="pres">
      <dgm:prSet presAssocID="{6BBCE8D1-2B54-465C-84AF-E58A196A36A4}" presName="parentTextArrow" presStyleLbl="node1" presStyleIdx="2" presStyleCnt="6"/>
      <dgm:spPr/>
    </dgm:pt>
    <dgm:pt modelId="{F84C4680-A164-4786-A92D-62C954E90D92}" type="pres">
      <dgm:prSet presAssocID="{096490ED-9E02-48D2-949A-8F0CE6F2E347}" presName="sp" presStyleCnt="0"/>
      <dgm:spPr/>
    </dgm:pt>
    <dgm:pt modelId="{2F8064D9-E686-46F2-8CA0-F59C3F20C790}" type="pres">
      <dgm:prSet presAssocID="{4C03CB23-AA9D-454A-B5FC-FF446F73BE7A}" presName="arrowAndChildren" presStyleCnt="0"/>
      <dgm:spPr/>
    </dgm:pt>
    <dgm:pt modelId="{7707A0FA-9780-47CF-93D3-F1D4FD660F89}" type="pres">
      <dgm:prSet presAssocID="{4C03CB23-AA9D-454A-B5FC-FF446F73BE7A}" presName="parentTextArrow" presStyleLbl="node1" presStyleIdx="3" presStyleCnt="6"/>
      <dgm:spPr/>
    </dgm:pt>
    <dgm:pt modelId="{B7D585D7-79AC-4A6B-8AD2-570E7CBA54BB}" type="pres">
      <dgm:prSet presAssocID="{0A40A7C7-1282-4637-809A-1C5AC1629C65}" presName="sp" presStyleCnt="0"/>
      <dgm:spPr/>
    </dgm:pt>
    <dgm:pt modelId="{6E8AF2EA-A863-402A-87A0-4F45796E8BB5}" type="pres">
      <dgm:prSet presAssocID="{49B7D2D9-9AF8-47B8-8462-A47D2171F903}" presName="arrowAndChildren" presStyleCnt="0"/>
      <dgm:spPr/>
    </dgm:pt>
    <dgm:pt modelId="{207A7ADF-26B5-4DB6-B016-7162BE8F0EB3}" type="pres">
      <dgm:prSet presAssocID="{49B7D2D9-9AF8-47B8-8462-A47D2171F903}" presName="parentTextArrow" presStyleLbl="node1" presStyleIdx="4" presStyleCnt="6"/>
      <dgm:spPr/>
    </dgm:pt>
    <dgm:pt modelId="{7D420A6B-B3FF-483E-88E7-849155C9699D}" type="pres">
      <dgm:prSet presAssocID="{DD50BCF5-C257-4BFF-BBD7-9120741A7DB7}" presName="sp" presStyleCnt="0"/>
      <dgm:spPr/>
    </dgm:pt>
    <dgm:pt modelId="{8ED23610-DB12-4D1B-80F1-A1095711D27C}" type="pres">
      <dgm:prSet presAssocID="{A00662CC-EB03-468B-AAA5-88FC6A029506}" presName="arrowAndChildren" presStyleCnt="0"/>
      <dgm:spPr/>
    </dgm:pt>
    <dgm:pt modelId="{EA49D8A2-AAB7-4EA8-B23C-64BE5C67E3A4}" type="pres">
      <dgm:prSet presAssocID="{A00662CC-EB03-468B-AAA5-88FC6A029506}" presName="parentTextArrow" presStyleLbl="node1" presStyleIdx="5" presStyleCnt="6" custLinFactNeighborX="-575" custLinFactNeighborY="-1793"/>
      <dgm:spPr/>
    </dgm:pt>
  </dgm:ptLst>
  <dgm:cxnLst>
    <dgm:cxn modelId="{4DEF8E3A-C137-4C6A-8811-8C6630CE9CB5}" type="presOf" srcId="{6BBCE8D1-2B54-465C-84AF-E58A196A36A4}" destId="{4C105B45-009F-4F22-9E0A-1D56A299FF80}" srcOrd="0" destOrd="0" presId="urn:microsoft.com/office/officeart/2005/8/layout/process4"/>
    <dgm:cxn modelId="{6265C63D-95B7-479C-90CC-610130718AE5}" type="presOf" srcId="{8A57C096-900B-463A-B700-EF6716D55ED4}" destId="{896C8DD3-2A07-4D5D-9359-6E4F10A1A632}" srcOrd="0" destOrd="0" presId="urn:microsoft.com/office/officeart/2005/8/layout/process4"/>
    <dgm:cxn modelId="{AAFE283F-91FB-4922-AC54-19771EF8C7A0}" type="presOf" srcId="{A00662CC-EB03-468B-AAA5-88FC6A029506}" destId="{EA49D8A2-AAB7-4EA8-B23C-64BE5C67E3A4}" srcOrd="0" destOrd="0" presId="urn:microsoft.com/office/officeart/2005/8/layout/process4"/>
    <dgm:cxn modelId="{AC79516E-3617-4F59-A284-1A3C823B3528}" srcId="{2BEC2B24-24B2-4979-A2D8-F6A4B3529748}" destId="{8A57C096-900B-463A-B700-EF6716D55ED4}" srcOrd="5" destOrd="0" parTransId="{4E9F2E43-BA58-43FD-821F-B780A57648C9}" sibTransId="{936A0952-8BA4-4F49-93F0-66059076A4B6}"/>
    <dgm:cxn modelId="{FC268158-8BE1-427B-9F72-C57C0ADB78D5}" type="presOf" srcId="{49B7D2D9-9AF8-47B8-8462-A47D2171F903}" destId="{207A7ADF-26B5-4DB6-B016-7162BE8F0EB3}" srcOrd="0" destOrd="0" presId="urn:microsoft.com/office/officeart/2005/8/layout/process4"/>
    <dgm:cxn modelId="{DC4C3C5A-6D66-4A3E-8784-2F8C1096EDF6}" type="presOf" srcId="{2BEC2B24-24B2-4979-A2D8-F6A4B3529748}" destId="{859BF240-ACC5-47DB-8624-0A0213CD9555}" srcOrd="0" destOrd="0" presId="urn:microsoft.com/office/officeart/2005/8/layout/process4"/>
    <dgm:cxn modelId="{F751327B-7402-4180-A5DE-20AD17D77C3D}" type="presOf" srcId="{C26DBC2D-2D97-4685-836E-D5D9E7072663}" destId="{0F0BC748-C96D-4534-8324-ECE73881EECB}" srcOrd="0" destOrd="0" presId="urn:microsoft.com/office/officeart/2005/8/layout/process4"/>
    <dgm:cxn modelId="{B74D589B-F65E-43DD-A853-3A351D0C98EE}" srcId="{2BEC2B24-24B2-4979-A2D8-F6A4B3529748}" destId="{A00662CC-EB03-468B-AAA5-88FC6A029506}" srcOrd="0" destOrd="0" parTransId="{392095AE-46BB-4312-BD43-8D02E9D3AD7D}" sibTransId="{DD50BCF5-C257-4BFF-BBD7-9120741A7DB7}"/>
    <dgm:cxn modelId="{03639CA3-D35C-4DB5-9647-27492293FA60}" srcId="{2BEC2B24-24B2-4979-A2D8-F6A4B3529748}" destId="{4C03CB23-AA9D-454A-B5FC-FF446F73BE7A}" srcOrd="2" destOrd="0" parTransId="{02AAD154-A3B0-47B3-98DF-8C29F5CB3DB4}" sibTransId="{096490ED-9E02-48D2-949A-8F0CE6F2E347}"/>
    <dgm:cxn modelId="{B2AEE9A7-9B50-4957-AAF9-EE94D4AEB48B}" type="presOf" srcId="{4C03CB23-AA9D-454A-B5FC-FF446F73BE7A}" destId="{7707A0FA-9780-47CF-93D3-F1D4FD660F89}" srcOrd="0" destOrd="0" presId="urn:microsoft.com/office/officeart/2005/8/layout/process4"/>
    <dgm:cxn modelId="{8206A6C6-38BB-47FA-84AF-3C7BBDFBFC71}" srcId="{2BEC2B24-24B2-4979-A2D8-F6A4B3529748}" destId="{C26DBC2D-2D97-4685-836E-D5D9E7072663}" srcOrd="4" destOrd="0" parTransId="{9020059D-EDD5-4369-8F58-BF8F8054DC9C}" sibTransId="{5C1D6F8F-1457-40EF-9C44-0B444E67AD49}"/>
    <dgm:cxn modelId="{757F67E7-C6E4-4729-9CAE-7C8E1C80ED3E}" srcId="{2BEC2B24-24B2-4979-A2D8-F6A4B3529748}" destId="{49B7D2D9-9AF8-47B8-8462-A47D2171F903}" srcOrd="1" destOrd="0" parTransId="{2C985B5F-EF43-4C79-B162-1089EBA0CBC8}" sibTransId="{0A40A7C7-1282-4637-809A-1C5AC1629C65}"/>
    <dgm:cxn modelId="{C6C945E8-2D7A-42A3-AB4D-208987887839}" srcId="{2BEC2B24-24B2-4979-A2D8-F6A4B3529748}" destId="{6BBCE8D1-2B54-465C-84AF-E58A196A36A4}" srcOrd="3" destOrd="0" parTransId="{E24CAAD3-9707-4C23-B3D6-449AB89016C5}" sibTransId="{CF3D1B2E-33B2-4C99-8A7B-6002645FEE8E}"/>
    <dgm:cxn modelId="{CE2706EB-3CBF-4C11-BCDC-A52024C92F03}" type="presParOf" srcId="{859BF240-ACC5-47DB-8624-0A0213CD9555}" destId="{3BEB6B56-38E5-4A83-945C-871E71FC024B}" srcOrd="0" destOrd="0" presId="urn:microsoft.com/office/officeart/2005/8/layout/process4"/>
    <dgm:cxn modelId="{2FE0282E-7A9A-412A-BF1B-346E044662F6}" type="presParOf" srcId="{3BEB6B56-38E5-4A83-945C-871E71FC024B}" destId="{896C8DD3-2A07-4D5D-9359-6E4F10A1A632}" srcOrd="0" destOrd="0" presId="urn:microsoft.com/office/officeart/2005/8/layout/process4"/>
    <dgm:cxn modelId="{E71BD3FA-D2F1-4F88-8BD9-12D54A30EF3C}" type="presParOf" srcId="{859BF240-ACC5-47DB-8624-0A0213CD9555}" destId="{6B9E9B9C-852B-459B-98D0-C128C7F22EFC}" srcOrd="1" destOrd="0" presId="urn:microsoft.com/office/officeart/2005/8/layout/process4"/>
    <dgm:cxn modelId="{9FC2D723-9512-4D60-B1D7-66A8215AAD5C}" type="presParOf" srcId="{859BF240-ACC5-47DB-8624-0A0213CD9555}" destId="{0D28F47C-AAC1-4247-8F88-29F17153A7EF}" srcOrd="2" destOrd="0" presId="urn:microsoft.com/office/officeart/2005/8/layout/process4"/>
    <dgm:cxn modelId="{21CC5383-3950-4CC0-8879-3257C2274FED}" type="presParOf" srcId="{0D28F47C-AAC1-4247-8F88-29F17153A7EF}" destId="{0F0BC748-C96D-4534-8324-ECE73881EECB}" srcOrd="0" destOrd="0" presId="urn:microsoft.com/office/officeart/2005/8/layout/process4"/>
    <dgm:cxn modelId="{618E0F5D-0CED-46C1-915C-C3B595408355}" type="presParOf" srcId="{859BF240-ACC5-47DB-8624-0A0213CD9555}" destId="{46306C72-B1C1-4A30-BF7D-4AF89B7EE571}" srcOrd="3" destOrd="0" presId="urn:microsoft.com/office/officeart/2005/8/layout/process4"/>
    <dgm:cxn modelId="{538A771C-3C1F-40CA-96C0-6CB26A8C89FA}" type="presParOf" srcId="{859BF240-ACC5-47DB-8624-0A0213CD9555}" destId="{5163A494-D156-4FEC-BA03-70D9E1B32A4D}" srcOrd="4" destOrd="0" presId="urn:microsoft.com/office/officeart/2005/8/layout/process4"/>
    <dgm:cxn modelId="{7F8C4DA4-700D-4CDB-899C-9B7036F39DED}" type="presParOf" srcId="{5163A494-D156-4FEC-BA03-70D9E1B32A4D}" destId="{4C105B45-009F-4F22-9E0A-1D56A299FF80}" srcOrd="0" destOrd="0" presId="urn:microsoft.com/office/officeart/2005/8/layout/process4"/>
    <dgm:cxn modelId="{BE3538CC-5561-4D80-8163-30761D4E3B9C}" type="presParOf" srcId="{859BF240-ACC5-47DB-8624-0A0213CD9555}" destId="{F84C4680-A164-4786-A92D-62C954E90D92}" srcOrd="5" destOrd="0" presId="urn:microsoft.com/office/officeart/2005/8/layout/process4"/>
    <dgm:cxn modelId="{0174C971-0B3B-4E4B-B898-BA6BC1E86117}" type="presParOf" srcId="{859BF240-ACC5-47DB-8624-0A0213CD9555}" destId="{2F8064D9-E686-46F2-8CA0-F59C3F20C790}" srcOrd="6" destOrd="0" presId="urn:microsoft.com/office/officeart/2005/8/layout/process4"/>
    <dgm:cxn modelId="{E02E8EB1-4B0B-437E-9B7B-29E4858A06F9}" type="presParOf" srcId="{2F8064D9-E686-46F2-8CA0-F59C3F20C790}" destId="{7707A0FA-9780-47CF-93D3-F1D4FD660F89}" srcOrd="0" destOrd="0" presId="urn:microsoft.com/office/officeart/2005/8/layout/process4"/>
    <dgm:cxn modelId="{47B3FE2A-B05C-447D-8060-917ACDB1D846}" type="presParOf" srcId="{859BF240-ACC5-47DB-8624-0A0213CD9555}" destId="{B7D585D7-79AC-4A6B-8AD2-570E7CBA54BB}" srcOrd="7" destOrd="0" presId="urn:microsoft.com/office/officeart/2005/8/layout/process4"/>
    <dgm:cxn modelId="{4DC8E2A6-A1E0-4EBE-85F9-C3A1681C64D9}" type="presParOf" srcId="{859BF240-ACC5-47DB-8624-0A0213CD9555}" destId="{6E8AF2EA-A863-402A-87A0-4F45796E8BB5}" srcOrd="8" destOrd="0" presId="urn:microsoft.com/office/officeart/2005/8/layout/process4"/>
    <dgm:cxn modelId="{5E289A90-7D97-4DB8-AC64-E5014FDB8CD7}" type="presParOf" srcId="{6E8AF2EA-A863-402A-87A0-4F45796E8BB5}" destId="{207A7ADF-26B5-4DB6-B016-7162BE8F0EB3}" srcOrd="0" destOrd="0" presId="urn:microsoft.com/office/officeart/2005/8/layout/process4"/>
    <dgm:cxn modelId="{3CFC54E0-E402-42DA-A0A7-651437C8FFEA}" type="presParOf" srcId="{859BF240-ACC5-47DB-8624-0A0213CD9555}" destId="{7D420A6B-B3FF-483E-88E7-849155C9699D}" srcOrd="9" destOrd="0" presId="urn:microsoft.com/office/officeart/2005/8/layout/process4"/>
    <dgm:cxn modelId="{874F4351-FAEE-4899-83DD-2B1651A6271E}" type="presParOf" srcId="{859BF240-ACC5-47DB-8624-0A0213CD9555}" destId="{8ED23610-DB12-4D1B-80F1-A1095711D27C}" srcOrd="10" destOrd="0" presId="urn:microsoft.com/office/officeart/2005/8/layout/process4"/>
    <dgm:cxn modelId="{6811EE8D-6FA8-4EDB-A84C-15EE724506EF}" type="presParOf" srcId="{8ED23610-DB12-4D1B-80F1-A1095711D27C}" destId="{EA49D8A2-AAB7-4EA8-B23C-64BE5C67E3A4}"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6C8DD3-2A07-4D5D-9359-6E4F10A1A632}">
      <dsp:nvSpPr>
        <dsp:cNvPr id="0" name=""/>
        <dsp:cNvSpPr/>
      </dsp:nvSpPr>
      <dsp:spPr>
        <a:xfrm>
          <a:off x="0" y="5000337"/>
          <a:ext cx="4824536" cy="65629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1" i="0" kern="1200" baseline="0"/>
            <a:t>Final Detection</a:t>
          </a:r>
          <a:br>
            <a:rPr lang="en-US" sz="1600" b="0" i="0" kern="1200" baseline="0"/>
          </a:br>
          <a:r>
            <a:rPr lang="en-US" sz="1600" b="0" i="0" kern="1200" baseline="0"/>
            <a:t>Multi-Criteria Decision</a:t>
          </a:r>
          <a:endParaRPr lang="en-IN" sz="1600" kern="1200"/>
        </a:p>
      </dsp:txBody>
      <dsp:txXfrm>
        <a:off x="0" y="5000337"/>
        <a:ext cx="4824536" cy="656291"/>
      </dsp:txXfrm>
    </dsp:sp>
    <dsp:sp modelId="{0F0BC748-C96D-4534-8324-ECE73881EECB}">
      <dsp:nvSpPr>
        <dsp:cNvPr id="0" name=""/>
        <dsp:cNvSpPr/>
      </dsp:nvSpPr>
      <dsp:spPr>
        <a:xfrm rot="10800000">
          <a:off x="0" y="4000805"/>
          <a:ext cx="4824536" cy="100937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1" i="0" kern="1200" baseline="0"/>
            <a:t>Enhanced Voting</a:t>
          </a:r>
          <a:br>
            <a:rPr lang="en-US" sz="1600" b="0" i="0" kern="1200" baseline="0"/>
          </a:br>
          <a:r>
            <a:rPr lang="en-US" sz="1600" b="0" i="0" kern="1200" baseline="0"/>
            <a:t>Confidence-Weighted</a:t>
          </a:r>
          <a:endParaRPr lang="en-IN" sz="1600" kern="1200"/>
        </a:p>
      </dsp:txBody>
      <dsp:txXfrm rot="10800000">
        <a:off x="0" y="4000805"/>
        <a:ext cx="4824536" cy="655862"/>
      </dsp:txXfrm>
    </dsp:sp>
    <dsp:sp modelId="{4C105B45-009F-4F22-9E0A-1D56A299FF80}">
      <dsp:nvSpPr>
        <dsp:cNvPr id="0" name=""/>
        <dsp:cNvSpPr/>
      </dsp:nvSpPr>
      <dsp:spPr>
        <a:xfrm rot="10800000">
          <a:off x="0" y="3001273"/>
          <a:ext cx="4824536" cy="100937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1" i="0" kern="1200" baseline="0"/>
            <a:t>Adaptive Detection</a:t>
          </a:r>
          <a:br>
            <a:rPr lang="en-US" sz="1600" b="0" i="0" kern="1200" baseline="0"/>
          </a:br>
          <a:r>
            <a:rPr lang="en-US" sz="1600" b="0" i="0" kern="1200" baseline="0"/>
            <a:t>IQR or MAD Method</a:t>
          </a:r>
          <a:endParaRPr lang="en-IN" sz="1600" kern="1200"/>
        </a:p>
      </dsp:txBody>
      <dsp:txXfrm rot="10800000">
        <a:off x="0" y="3001273"/>
        <a:ext cx="4824536" cy="655862"/>
      </dsp:txXfrm>
    </dsp:sp>
    <dsp:sp modelId="{7707A0FA-9780-47CF-93D3-F1D4FD660F89}">
      <dsp:nvSpPr>
        <dsp:cNvPr id="0" name=""/>
        <dsp:cNvSpPr/>
      </dsp:nvSpPr>
      <dsp:spPr>
        <a:xfrm rot="10800000">
          <a:off x="0" y="2001741"/>
          <a:ext cx="4824536" cy="100937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1" i="0" kern="1200" baseline="0"/>
            <a:t>MAD Pre-Analysis</a:t>
          </a:r>
          <a:br>
            <a:rPr lang="en-US" sz="1600" b="0" i="0" kern="1200" baseline="0"/>
          </a:br>
          <a:r>
            <a:rPr lang="en-US" sz="1600" b="0" i="0" kern="1200" baseline="0"/>
            <a:t>Estimate Compromise Level</a:t>
          </a:r>
          <a:endParaRPr lang="en-IN" sz="1600" kern="1200"/>
        </a:p>
      </dsp:txBody>
      <dsp:txXfrm rot="10800000">
        <a:off x="0" y="2001741"/>
        <a:ext cx="4824536" cy="655862"/>
      </dsp:txXfrm>
    </dsp:sp>
    <dsp:sp modelId="{207A7ADF-26B5-4DB6-B016-7162BE8F0EB3}">
      <dsp:nvSpPr>
        <dsp:cNvPr id="0" name=""/>
        <dsp:cNvSpPr/>
      </dsp:nvSpPr>
      <dsp:spPr>
        <a:xfrm rot="10800000">
          <a:off x="0" y="1002209"/>
          <a:ext cx="4824536" cy="100937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1" i="0" kern="1200" baseline="0" dirty="0"/>
            <a:t>ML Model Transfer</a:t>
          </a:r>
          <a:br>
            <a:rPr lang="en-US" sz="1600" b="0" i="0" kern="1200" baseline="0" dirty="0"/>
          </a:br>
          <a:r>
            <a:rPr lang="en-US" sz="1600" b="0" i="0" kern="1200" baseline="0" dirty="0"/>
            <a:t>Controllers Exchange Models</a:t>
          </a:r>
          <a:endParaRPr lang="en-IN" sz="1600" kern="1200" dirty="0"/>
        </a:p>
      </dsp:txBody>
      <dsp:txXfrm rot="10800000">
        <a:off x="0" y="1002209"/>
        <a:ext cx="4824536" cy="655862"/>
      </dsp:txXfrm>
    </dsp:sp>
    <dsp:sp modelId="{EA49D8A2-AAB7-4EA8-B23C-64BE5C67E3A4}">
      <dsp:nvSpPr>
        <dsp:cNvPr id="0" name=""/>
        <dsp:cNvSpPr/>
      </dsp:nvSpPr>
      <dsp:spPr>
        <a:xfrm rot="10800000">
          <a:off x="0" y="0"/>
          <a:ext cx="4824536" cy="100937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1" i="0" kern="1200" baseline="0" dirty="0"/>
            <a:t>Send Request</a:t>
          </a:r>
          <a:br>
            <a:rPr lang="en-US" sz="1600" b="0" i="0" kern="1200" baseline="0" dirty="0"/>
          </a:br>
          <a:r>
            <a:rPr lang="en-US" sz="1600" b="0" i="0" kern="1200" baseline="0" dirty="0"/>
            <a:t>Command Center → Controllers</a:t>
          </a:r>
          <a:endParaRPr lang="en-IN" sz="1600" kern="1200" dirty="0"/>
        </a:p>
      </dsp:txBody>
      <dsp:txXfrm rot="10800000">
        <a:off x="0" y="0"/>
        <a:ext cx="4824536" cy="655862"/>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spcBef>
                <a:spcPct val="20000"/>
              </a:spcBef>
              <a:buFontTx/>
              <a:buChar char="•"/>
              <a:defRPr>
                <a:cs typeface="+mn-cs"/>
              </a:defRPr>
            </a:lvl1pPr>
          </a:lstStyle>
          <a:p>
            <a:pPr>
              <a:defRPr/>
            </a:pPr>
            <a:endParaRPr lang="en-US"/>
          </a:p>
        </p:txBody>
      </p:sp>
      <p:sp>
        <p:nvSpPr>
          <p:cNvPr id="48131"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20000"/>
              </a:spcBef>
              <a:buFontTx/>
              <a:buChar char="•"/>
              <a:defRPr>
                <a:cs typeface="+mn-cs"/>
              </a:defRPr>
            </a:lvl1pPr>
          </a:lstStyle>
          <a:p>
            <a:pPr>
              <a:defRPr/>
            </a:pPr>
            <a:endParaRPr lang="en-US"/>
          </a:p>
        </p:txBody>
      </p:sp>
      <p:sp>
        <p:nvSpPr>
          <p:cNvPr id="48132"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spcBef>
                <a:spcPct val="20000"/>
              </a:spcBef>
              <a:buFontTx/>
              <a:buChar char="•"/>
              <a:defRPr>
                <a:cs typeface="+mn-cs"/>
              </a:defRPr>
            </a:lvl1pPr>
          </a:lstStyle>
          <a:p>
            <a:pPr>
              <a:defRPr/>
            </a:pPr>
            <a:endParaRPr lang="en-US"/>
          </a:p>
        </p:txBody>
      </p:sp>
      <p:sp>
        <p:nvSpPr>
          <p:cNvPr id="48133"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spcBef>
                <a:spcPct val="20000"/>
              </a:spcBef>
              <a:buFontTx/>
              <a:buChar char="•"/>
              <a:defRPr smtClean="0"/>
            </a:lvl1pPr>
          </a:lstStyle>
          <a:p>
            <a:pPr>
              <a:defRPr/>
            </a:pPr>
            <a:fld id="{227E0731-A314-440E-A2C0-4B8ED9BEA172}"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spcBef>
                <a:spcPct val="0"/>
              </a:spcBef>
              <a:buFontTx/>
              <a:buNone/>
              <a:defRPr b="0">
                <a:latin typeface="Times New Roman" panose="02020603050405020304" pitchFamily="18" charset="0"/>
                <a:cs typeface="+mn-cs"/>
              </a:defRPr>
            </a:lvl1pPr>
          </a:lstStyle>
          <a:p>
            <a:pPr>
              <a:defRPr/>
            </a:pPr>
            <a:endParaRPr lang="en-US"/>
          </a:p>
        </p:txBody>
      </p:sp>
      <p:sp>
        <p:nvSpPr>
          <p:cNvPr id="3075"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buFontTx/>
              <a:buNone/>
              <a:defRPr b="0">
                <a:latin typeface="Times New Roman" panose="02020603050405020304" pitchFamily="18" charset="0"/>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spcBef>
                <a:spcPct val="0"/>
              </a:spcBef>
              <a:buFontTx/>
              <a:buNone/>
              <a:defRPr b="0">
                <a:latin typeface="Times New Roman" panose="02020603050405020304" pitchFamily="18" charset="0"/>
                <a:cs typeface="+mn-cs"/>
              </a:defRPr>
            </a:lvl1pPr>
          </a:lstStyle>
          <a:p>
            <a:pPr>
              <a:defRPr/>
            </a:pPr>
            <a:endParaRPr lang="en-US"/>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b="0" smtClean="0">
                <a:latin typeface="Times New Roman" panose="02020603050405020304" pitchFamily="18" charset="0"/>
              </a:defRPr>
            </a:lvl1pPr>
          </a:lstStyle>
          <a:p>
            <a:pPr>
              <a:defRPr/>
            </a:pPr>
            <a:fld id="{E3A8B66F-F4A0-482A-AC5A-DA74F23F3D1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p:cNvSpPr>
            <a:spLocks noGrp="1" noChangeArrowheads="1"/>
          </p:cNvSpPr>
          <p:nvPr>
            <p:ph type="ftr" sz="quarter" idx="10"/>
          </p:nvPr>
        </p:nvSpPr>
        <p:spPr/>
        <p:txBody>
          <a:bodyPr/>
          <a:lstStyle>
            <a:lvl1pPr>
              <a:defRPr/>
            </a:lvl1pPr>
          </a:lstStyle>
          <a:p>
            <a:pPr>
              <a:defRPr/>
            </a:pPr>
            <a:r>
              <a:rPr lang="en-US" dirty="0"/>
              <a:t>Department of IT</a:t>
            </a:r>
          </a:p>
        </p:txBody>
      </p:sp>
      <p:sp>
        <p:nvSpPr>
          <p:cNvPr id="5" name="Rectangle 6"/>
          <p:cNvSpPr>
            <a:spLocks noGrp="1" noChangeArrowheads="1"/>
          </p:cNvSpPr>
          <p:nvPr>
            <p:ph type="sldNum" sz="quarter" idx="11"/>
          </p:nvPr>
        </p:nvSpPr>
        <p:spPr/>
        <p:txBody>
          <a:bodyPr/>
          <a:lstStyle>
            <a:lvl1pPr>
              <a:defRPr/>
            </a:lvl1pPr>
          </a:lstStyle>
          <a:p>
            <a:pPr>
              <a:defRPr/>
            </a:pPr>
            <a:r>
              <a:rPr lang="en-US"/>
              <a:t>1</a:t>
            </a:r>
          </a:p>
        </p:txBody>
      </p:sp>
    </p:spTree>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p:txBody>
          <a:bodyPr/>
          <a:lstStyle>
            <a:lvl1pPr>
              <a:defRPr/>
            </a:lvl1pPr>
          </a:lstStyle>
          <a:p>
            <a:pPr>
              <a:defRPr/>
            </a:pPr>
            <a:r>
              <a:rPr lang="en-US" dirty="0"/>
              <a:t>Department of IT</a:t>
            </a:r>
          </a:p>
        </p:txBody>
      </p:sp>
      <p:sp>
        <p:nvSpPr>
          <p:cNvPr id="5" name="Rectangle 6"/>
          <p:cNvSpPr>
            <a:spLocks noGrp="1" noChangeArrowheads="1"/>
          </p:cNvSpPr>
          <p:nvPr>
            <p:ph type="sldNum" sz="quarter" idx="11"/>
          </p:nvPr>
        </p:nvSpPr>
        <p:spPr/>
        <p:txBody>
          <a:bodyPr/>
          <a:lstStyle>
            <a:lvl1pPr>
              <a:defRPr/>
            </a:lvl1pPr>
          </a:lstStyle>
          <a:p>
            <a:pPr>
              <a:defRPr/>
            </a:pPr>
            <a:r>
              <a:rPr lang="en-US"/>
              <a:t>1</a:t>
            </a:r>
          </a:p>
        </p:txBody>
      </p:sp>
    </p:spTree>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ftr" sz="quarter" idx="10"/>
          </p:nvPr>
        </p:nvSpPr>
        <p:spPr/>
        <p:txBody>
          <a:bodyPr/>
          <a:lstStyle>
            <a:lvl1pPr>
              <a:defRPr/>
            </a:lvl1pPr>
          </a:lstStyle>
          <a:p>
            <a:pPr>
              <a:defRPr/>
            </a:pPr>
            <a:r>
              <a:rPr lang="en-US" dirty="0"/>
              <a:t>Department of IT</a:t>
            </a:r>
          </a:p>
        </p:txBody>
      </p:sp>
      <p:sp>
        <p:nvSpPr>
          <p:cNvPr id="5" name="Rectangle 6"/>
          <p:cNvSpPr>
            <a:spLocks noGrp="1" noChangeArrowheads="1"/>
          </p:cNvSpPr>
          <p:nvPr>
            <p:ph type="sldNum" sz="quarter" idx="11"/>
          </p:nvPr>
        </p:nvSpPr>
        <p:spPr/>
        <p:txBody>
          <a:bodyPr/>
          <a:lstStyle>
            <a:lvl1pPr>
              <a:defRPr/>
            </a:lvl1pPr>
          </a:lstStyle>
          <a:p>
            <a:pPr>
              <a:defRPr/>
            </a:pPr>
            <a:r>
              <a:rPr lang="en-US"/>
              <a:t>1</a:t>
            </a:r>
          </a:p>
        </p:txBody>
      </p:sp>
    </p:spTree>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p:txBody>
          <a:bodyPr/>
          <a:lstStyle>
            <a:lvl1pPr>
              <a:defRPr/>
            </a:lvl1pPr>
          </a:lstStyle>
          <a:p>
            <a:pPr>
              <a:defRPr/>
            </a:pPr>
            <a:r>
              <a:rPr lang="en-US" dirty="0"/>
              <a:t>Department of IT</a:t>
            </a:r>
          </a:p>
        </p:txBody>
      </p:sp>
      <p:sp>
        <p:nvSpPr>
          <p:cNvPr id="6" name="Rectangle 6"/>
          <p:cNvSpPr>
            <a:spLocks noGrp="1" noChangeArrowheads="1"/>
          </p:cNvSpPr>
          <p:nvPr>
            <p:ph type="sldNum" sz="quarter" idx="11"/>
          </p:nvPr>
        </p:nvSpPr>
        <p:spPr/>
        <p:txBody>
          <a:bodyPr/>
          <a:lstStyle>
            <a:lvl1pPr>
              <a:defRPr/>
            </a:lvl1pPr>
          </a:lstStyle>
          <a:p>
            <a:pPr>
              <a:defRPr/>
            </a:pPr>
            <a:r>
              <a:rPr lang="en-US"/>
              <a:t>1</a:t>
            </a:r>
          </a:p>
        </p:txBody>
      </p:sp>
    </p:spTree>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ftr" sz="quarter" idx="10"/>
          </p:nvPr>
        </p:nvSpPr>
        <p:spPr/>
        <p:txBody>
          <a:bodyPr/>
          <a:lstStyle>
            <a:lvl1pPr>
              <a:defRPr/>
            </a:lvl1pPr>
          </a:lstStyle>
          <a:p>
            <a:pPr>
              <a:defRPr/>
            </a:pPr>
            <a:r>
              <a:rPr lang="en-US" dirty="0"/>
              <a:t>Department of IT</a:t>
            </a:r>
          </a:p>
        </p:txBody>
      </p:sp>
      <p:sp>
        <p:nvSpPr>
          <p:cNvPr id="8" name="Rectangle 6"/>
          <p:cNvSpPr>
            <a:spLocks noGrp="1" noChangeArrowheads="1"/>
          </p:cNvSpPr>
          <p:nvPr>
            <p:ph type="sldNum" sz="quarter" idx="11"/>
          </p:nvPr>
        </p:nvSpPr>
        <p:spPr/>
        <p:txBody>
          <a:bodyPr/>
          <a:lstStyle>
            <a:lvl1pPr>
              <a:defRPr/>
            </a:lvl1pPr>
          </a:lstStyle>
          <a:p>
            <a:pPr>
              <a:defRPr/>
            </a:pPr>
            <a:r>
              <a:rPr lang="en-US"/>
              <a:t>1</a:t>
            </a:r>
          </a:p>
        </p:txBody>
      </p:sp>
    </p:spTree>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ftr" sz="quarter" idx="10"/>
          </p:nvPr>
        </p:nvSpPr>
        <p:spPr/>
        <p:txBody>
          <a:bodyPr/>
          <a:lstStyle>
            <a:lvl1pPr>
              <a:defRPr/>
            </a:lvl1pPr>
          </a:lstStyle>
          <a:p>
            <a:pPr>
              <a:defRPr/>
            </a:pPr>
            <a:r>
              <a:rPr lang="en-US" dirty="0"/>
              <a:t>Department of IT</a:t>
            </a:r>
          </a:p>
        </p:txBody>
      </p:sp>
      <p:sp>
        <p:nvSpPr>
          <p:cNvPr id="4" name="Rectangle 6"/>
          <p:cNvSpPr>
            <a:spLocks noGrp="1" noChangeArrowheads="1"/>
          </p:cNvSpPr>
          <p:nvPr>
            <p:ph type="sldNum" sz="quarter" idx="11"/>
          </p:nvPr>
        </p:nvSpPr>
        <p:spPr/>
        <p:txBody>
          <a:bodyPr/>
          <a:lstStyle>
            <a:lvl1pPr>
              <a:defRPr/>
            </a:lvl1pPr>
          </a:lstStyle>
          <a:p>
            <a:pPr>
              <a:defRPr/>
            </a:pPr>
            <a:r>
              <a:rPr lang="en-US"/>
              <a:t>1</a:t>
            </a:r>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r>
              <a:rPr lang="en-US" dirty="0"/>
              <a:t>Department of IT</a:t>
            </a:r>
          </a:p>
        </p:txBody>
      </p:sp>
      <p:sp>
        <p:nvSpPr>
          <p:cNvPr id="3" name="Rectangle 6"/>
          <p:cNvSpPr>
            <a:spLocks noGrp="1" noChangeArrowheads="1"/>
          </p:cNvSpPr>
          <p:nvPr>
            <p:ph type="sldNum" sz="quarter" idx="11"/>
          </p:nvPr>
        </p:nvSpPr>
        <p:spPr/>
        <p:txBody>
          <a:bodyPr/>
          <a:lstStyle>
            <a:lvl1pPr>
              <a:defRPr/>
            </a:lvl1pPr>
          </a:lstStyle>
          <a:p>
            <a:pPr>
              <a:defRPr/>
            </a:pPr>
            <a:r>
              <a:rPr lang="en-US"/>
              <a:t>1</a:t>
            </a:r>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p:txBody>
          <a:bodyPr/>
          <a:lstStyle>
            <a:lvl1pPr>
              <a:defRPr/>
            </a:lvl1pPr>
          </a:lstStyle>
          <a:p>
            <a:pPr>
              <a:defRPr/>
            </a:pPr>
            <a:r>
              <a:rPr lang="en-US" dirty="0"/>
              <a:t>Department of IT</a:t>
            </a:r>
          </a:p>
        </p:txBody>
      </p:sp>
      <p:sp>
        <p:nvSpPr>
          <p:cNvPr id="6" name="Rectangle 6"/>
          <p:cNvSpPr>
            <a:spLocks noGrp="1" noChangeArrowheads="1"/>
          </p:cNvSpPr>
          <p:nvPr>
            <p:ph type="sldNum" sz="quarter" idx="11"/>
          </p:nvPr>
        </p:nvSpPr>
        <p:spPr/>
        <p:txBody>
          <a:bodyPr/>
          <a:lstStyle>
            <a:lvl1pPr>
              <a:defRPr/>
            </a:lvl1pPr>
          </a:lstStyle>
          <a:p>
            <a:pPr>
              <a:defRPr/>
            </a:pPr>
            <a:r>
              <a:rPr lang="en-US"/>
              <a:t>1</a:t>
            </a:r>
          </a:p>
        </p:txBody>
      </p:sp>
    </p:spTree>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p:txBody>
          <a:bodyPr/>
          <a:lstStyle>
            <a:lvl1pPr>
              <a:defRPr/>
            </a:lvl1pPr>
          </a:lstStyle>
          <a:p>
            <a:pPr>
              <a:defRPr/>
            </a:pPr>
            <a:r>
              <a:rPr lang="en-US" dirty="0"/>
              <a:t>Department of IT</a:t>
            </a:r>
          </a:p>
        </p:txBody>
      </p:sp>
      <p:sp>
        <p:nvSpPr>
          <p:cNvPr id="6" name="Rectangle 6"/>
          <p:cNvSpPr>
            <a:spLocks noGrp="1" noChangeArrowheads="1"/>
          </p:cNvSpPr>
          <p:nvPr>
            <p:ph type="sldNum" sz="quarter" idx="11"/>
          </p:nvPr>
        </p:nvSpPr>
        <p:spPr/>
        <p:txBody>
          <a:bodyPr/>
          <a:lstStyle>
            <a:lvl1pPr>
              <a:defRPr/>
            </a:lvl1pPr>
          </a:lstStyle>
          <a:p>
            <a:pPr>
              <a:defRPr/>
            </a:pPr>
            <a:r>
              <a:rPr lang="en-US"/>
              <a:t>1</a:t>
            </a:r>
          </a:p>
        </p:txBody>
      </p:sp>
    </p:spTree>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p:txBody>
          <a:bodyPr/>
          <a:lstStyle>
            <a:lvl1pPr>
              <a:defRPr/>
            </a:lvl1pPr>
          </a:lstStyle>
          <a:p>
            <a:pPr>
              <a:defRPr/>
            </a:pPr>
            <a:r>
              <a:rPr lang="en-US" dirty="0"/>
              <a:t>Department of IT</a:t>
            </a:r>
          </a:p>
        </p:txBody>
      </p:sp>
      <p:sp>
        <p:nvSpPr>
          <p:cNvPr id="5" name="Rectangle 6"/>
          <p:cNvSpPr>
            <a:spLocks noGrp="1" noChangeArrowheads="1"/>
          </p:cNvSpPr>
          <p:nvPr>
            <p:ph type="sldNum" sz="quarter" idx="11"/>
          </p:nvPr>
        </p:nvSpPr>
        <p:spPr/>
        <p:txBody>
          <a:bodyPr/>
          <a:lstStyle>
            <a:lvl1pPr>
              <a:defRPr/>
            </a:lvl1pPr>
          </a:lstStyle>
          <a:p>
            <a:pPr>
              <a:defRPr/>
            </a:pPr>
            <a:r>
              <a:rPr lang="en-US"/>
              <a:t>1</a:t>
            </a:r>
          </a:p>
        </p:txBody>
      </p:sp>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p:txBody>
          <a:bodyPr/>
          <a:lstStyle>
            <a:lvl1pPr>
              <a:defRPr/>
            </a:lvl1pPr>
          </a:lstStyle>
          <a:p>
            <a:pPr>
              <a:defRPr/>
            </a:pPr>
            <a:r>
              <a:rPr lang="en-US" dirty="0"/>
              <a:t>Department of IT</a:t>
            </a:r>
          </a:p>
        </p:txBody>
      </p:sp>
      <p:sp>
        <p:nvSpPr>
          <p:cNvPr id="5" name="Rectangle 6"/>
          <p:cNvSpPr>
            <a:spLocks noGrp="1" noChangeArrowheads="1"/>
          </p:cNvSpPr>
          <p:nvPr>
            <p:ph type="sldNum" sz="quarter" idx="11"/>
          </p:nvPr>
        </p:nvSpPr>
        <p:spPr/>
        <p:txBody>
          <a:bodyPr/>
          <a:lstStyle>
            <a:lvl1pPr>
              <a:defRPr/>
            </a:lvl1pPr>
          </a:lstStyle>
          <a:p>
            <a:pPr>
              <a:defRPr/>
            </a:pPr>
            <a:r>
              <a:rPr lang="en-US"/>
              <a:t>1</a:t>
            </a:r>
          </a:p>
        </p:txBody>
      </p:sp>
    </p:spTree>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able Placeholder 2"/>
          <p:cNvSpPr>
            <a:spLocks noGrp="1"/>
          </p:cNvSpPr>
          <p:nvPr>
            <p:ph type="tbl" idx="1"/>
          </p:nvPr>
        </p:nvSpPr>
        <p:spPr>
          <a:xfrm>
            <a:off x="685800" y="1981200"/>
            <a:ext cx="7772400" cy="4114800"/>
          </a:xfrm>
        </p:spPr>
        <p:txBody>
          <a:bodyPr/>
          <a:lstStyle/>
          <a:p>
            <a:pPr lvl="0"/>
            <a:endParaRPr lang="en-US" noProof="0"/>
          </a:p>
        </p:txBody>
      </p:sp>
      <p:sp>
        <p:nvSpPr>
          <p:cNvPr id="4" name="Rectangle 5"/>
          <p:cNvSpPr>
            <a:spLocks noGrp="1" noChangeArrowheads="1"/>
          </p:cNvSpPr>
          <p:nvPr>
            <p:ph type="ftr" sz="quarter" idx="10"/>
          </p:nvPr>
        </p:nvSpPr>
        <p:spPr/>
        <p:txBody>
          <a:bodyPr/>
          <a:lstStyle>
            <a:lvl1pPr>
              <a:defRPr/>
            </a:lvl1pPr>
          </a:lstStyle>
          <a:p>
            <a:pPr>
              <a:defRPr/>
            </a:pPr>
            <a:r>
              <a:rPr lang="en-US" dirty="0"/>
              <a:t>Department of IT</a:t>
            </a:r>
          </a:p>
        </p:txBody>
      </p:sp>
      <p:sp>
        <p:nvSpPr>
          <p:cNvPr id="5" name="Rectangle 6"/>
          <p:cNvSpPr>
            <a:spLocks noGrp="1" noChangeArrowheads="1"/>
          </p:cNvSpPr>
          <p:nvPr>
            <p:ph type="sldNum" sz="quarter" idx="11"/>
          </p:nvPr>
        </p:nvSpPr>
        <p:spPr/>
        <p:txBody>
          <a:bodyPr/>
          <a:lstStyle>
            <a:lvl1pPr>
              <a:defRPr/>
            </a:lvl1pPr>
          </a:lstStyle>
          <a:p>
            <a:pPr>
              <a:defRPr/>
            </a:pPr>
            <a:r>
              <a:rPr lang="en-US"/>
              <a:t>1</a:t>
            </a:r>
          </a:p>
        </p:txBody>
      </p:sp>
    </p:spTree>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39286E79-05FB-4B97-AC3D-6001053254B2}" type="slidenum">
              <a:rPr lang="en-US" altLang="en-US"/>
              <a:pPr>
                <a:defRPr/>
              </a:pPr>
              <a:t>‹#›</a:t>
            </a:fld>
            <a:endParaRPr lang="en-US"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00FB6F60-24FB-4FE5-A52F-2DC4FAA276CC}" type="slidenum">
              <a:rPr lang="en-US" altLang="en-US"/>
              <a:pPr>
                <a:defRPr/>
              </a:pPr>
              <a:t>‹#›</a:t>
            </a:fld>
            <a:endParaRPr lang="en-US"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8A536875-4B29-4AC5-900E-0CAD1E3C0316}" type="slidenum">
              <a:rPr lang="en-US" altLang="en-US"/>
              <a:pPr>
                <a:defRPr/>
              </a:pPr>
              <a:t>‹#›</a:t>
            </a:fld>
            <a:endParaRPr lang="en-US"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E8793DDA-F6F1-433B-8EE8-4FF8DA6669F0}" type="slidenum">
              <a:rPr lang="en-US" altLang="en-US"/>
              <a:pPr>
                <a:defRPr/>
              </a:pPr>
              <a:t>‹#›</a:t>
            </a:fld>
            <a:endParaRPr lang="en-US"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lvl1pPr>
              <a:defRPr/>
            </a:lvl1pPr>
          </a:lstStyle>
          <a:p>
            <a:pPr>
              <a:defRPr/>
            </a:pPr>
            <a:endParaRPr lang="en-US"/>
          </a:p>
        </p:txBody>
      </p:sp>
      <p:sp>
        <p:nvSpPr>
          <p:cNvPr id="8" name="Rectangle 5"/>
          <p:cNvSpPr>
            <a:spLocks noGrp="1" noChangeArrowheads="1"/>
          </p:cNvSpPr>
          <p:nvPr>
            <p:ph type="ftr" sz="quarter" idx="11"/>
          </p:nvPr>
        </p:nvSpPr>
        <p:spPr/>
        <p:txBody>
          <a:bodyPr/>
          <a:lstStyle>
            <a:lvl1pPr>
              <a:defRPr/>
            </a:lvl1pPr>
          </a:lstStyle>
          <a:p>
            <a:pPr>
              <a:defRPr/>
            </a:pPr>
            <a:endParaRPr lang="en-US"/>
          </a:p>
        </p:txBody>
      </p:sp>
      <p:sp>
        <p:nvSpPr>
          <p:cNvPr id="9" name="Rectangle 6"/>
          <p:cNvSpPr>
            <a:spLocks noGrp="1" noChangeArrowheads="1"/>
          </p:cNvSpPr>
          <p:nvPr>
            <p:ph type="sldNum" sz="quarter" idx="12"/>
          </p:nvPr>
        </p:nvSpPr>
        <p:spPr/>
        <p:txBody>
          <a:bodyPr/>
          <a:lstStyle>
            <a:lvl1pPr>
              <a:defRPr/>
            </a:lvl1pPr>
          </a:lstStyle>
          <a:p>
            <a:pPr>
              <a:defRPr/>
            </a:pPr>
            <a:fld id="{2F3A43C2-AB78-4ABE-8756-63F58A8C6FE8}" type="slidenum">
              <a:rPr lang="en-US" altLang="en-US"/>
              <a:pPr>
                <a:defRPr/>
              </a:pPr>
              <a:t>‹#›</a:t>
            </a:fld>
            <a:endParaRPr lang="en-US"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pPr>
              <a:defRPr/>
            </a:pPr>
            <a:fld id="{67FD2A4E-544D-488C-BBC3-326B2A6120A5}" type="slidenum">
              <a:rPr lang="en-US" altLang="en-US"/>
              <a:pPr>
                <a:defRPr/>
              </a:pPr>
              <a:t>‹#›</a:t>
            </a:fld>
            <a:endParaRPr lang="en-US"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p>
        </p:txBody>
      </p:sp>
      <p:sp>
        <p:nvSpPr>
          <p:cNvPr id="3" name="Rectangle 5"/>
          <p:cNvSpPr>
            <a:spLocks noGrp="1" noChangeArrowheads="1"/>
          </p:cNvSpPr>
          <p:nvPr>
            <p:ph type="ftr" sz="quarter" idx="11"/>
          </p:nvPr>
        </p:nvSpPr>
        <p:spPr/>
        <p:txBody>
          <a:bodyPr/>
          <a:lstStyle>
            <a:lvl1pPr>
              <a:defRPr/>
            </a:lvl1pPr>
          </a:lstStyle>
          <a:p>
            <a:pPr>
              <a:defRPr/>
            </a:pPr>
            <a:endParaRPr lang="en-US"/>
          </a:p>
        </p:txBody>
      </p:sp>
      <p:sp>
        <p:nvSpPr>
          <p:cNvPr id="4" name="Rectangle 6"/>
          <p:cNvSpPr>
            <a:spLocks noGrp="1" noChangeArrowheads="1"/>
          </p:cNvSpPr>
          <p:nvPr>
            <p:ph type="sldNum" sz="quarter" idx="12"/>
          </p:nvPr>
        </p:nvSpPr>
        <p:spPr/>
        <p:txBody>
          <a:bodyPr/>
          <a:lstStyle>
            <a:lvl1pPr>
              <a:defRPr/>
            </a:lvl1pPr>
          </a:lstStyle>
          <a:p>
            <a:pPr>
              <a:defRPr/>
            </a:pPr>
            <a:fld id="{2DAD49BA-7B80-422C-B12E-52FC6A981560}" type="slidenum">
              <a:rPr lang="en-US" altLang="en-US"/>
              <a:pPr>
                <a:defRPr/>
              </a:pPr>
              <a:t>‹#›</a:t>
            </a:fld>
            <a:endParaRPr lang="en-US"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98C5E23E-108F-4094-A5FE-58F11978E797}" type="slidenum">
              <a:rPr lang="en-US" altLang="en-US"/>
              <a:pPr>
                <a:defRPr/>
              </a:pPr>
              <a:t>‹#›</a:t>
            </a:fld>
            <a:endParaRPr lang="en-US"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F1381A98-D86A-4B1F-B6D6-935A8D5F75EE}" type="slidenum">
              <a:rPr lang="en-US" altLang="en-US"/>
              <a:pPr>
                <a:defRPr/>
              </a:pPr>
              <a:t>‹#›</a:t>
            </a:fld>
            <a:endParaRPr lang="en-US"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1BC88FBC-D2A4-434B-93F2-F66F45CBB3FE}" type="slidenum">
              <a:rPr lang="en-US" altLang="en-US"/>
              <a:pPr>
                <a:defRPr/>
              </a:pPr>
              <a:t>‹#›</a:t>
            </a:fld>
            <a:endParaRPr lang="en-US"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0425A09B-A753-47D5-808D-4A3ECB1A0ECC}" type="slidenum">
              <a:rPr lang="en-US" altLang="en-US"/>
              <a:pPr>
                <a:defRPr/>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en-US"/>
              <a:t>OFFLINE HANDWRITTEN CHARACTER RECOGINITION SYSTEM</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spcBef>
                <a:spcPct val="0"/>
              </a:spcBef>
              <a:buFontTx/>
              <a:buNone/>
              <a:defRPr sz="1400" b="0">
                <a:solidFill>
                  <a:srgbClr val="0000FF"/>
                </a:solidFill>
                <a:latin typeface="+mn-lt"/>
                <a:cs typeface="+mn-cs"/>
              </a:defRPr>
            </a:lvl1pPr>
          </a:lstStyle>
          <a:p>
            <a:pPr>
              <a:defRPr/>
            </a:pPr>
            <a:r>
              <a:rPr lang="en-US" dirty="0"/>
              <a:t>Department of IT</a:t>
            </a: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buFontTx/>
              <a:buNone/>
              <a:defRPr sz="1400" b="0">
                <a:latin typeface="+mn-lt"/>
                <a:cs typeface="+mn-cs"/>
              </a:defRPr>
            </a:lvl1pPr>
          </a:lstStyle>
          <a:p>
            <a:pPr>
              <a:defRPr/>
            </a:pPr>
            <a:r>
              <a:rPr lang="en-US"/>
              <a:t>1</a:t>
            </a:r>
          </a:p>
        </p:txBody>
      </p:sp>
      <p:sp>
        <p:nvSpPr>
          <p:cNvPr id="2" name="Line 7"/>
          <p:cNvSpPr>
            <a:spLocks noChangeShapeType="1"/>
          </p:cNvSpPr>
          <p:nvPr userDrawn="1"/>
        </p:nvSpPr>
        <p:spPr bwMode="auto">
          <a:xfrm>
            <a:off x="685800" y="990600"/>
            <a:ext cx="84582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spAutoFit/>
          </a:bodyPr>
          <a:lstStyle/>
          <a:p>
            <a:endParaRPr lang="en-IN"/>
          </a:p>
        </p:txBody>
      </p:sp>
      <p:sp>
        <p:nvSpPr>
          <p:cNvPr id="1031" name="Text Box 9"/>
          <p:cNvSpPr txBox="1">
            <a:spLocks noChangeArrowheads="1"/>
          </p:cNvSpPr>
          <p:nvPr userDrawn="1"/>
        </p:nvSpPr>
        <p:spPr bwMode="auto">
          <a:xfrm>
            <a:off x="914400" y="6248400"/>
            <a:ext cx="1981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a:defRPr sz="1200" b="1">
                <a:solidFill>
                  <a:schemeClr val="tx1"/>
                </a:solidFill>
                <a:latin typeface="Verdana" panose="020B0604030504040204" pitchFamily="34" charset="0"/>
                <a:cs typeface="Arial" panose="020B0604020202020204" pitchFamily="34" charset="0"/>
              </a:defRPr>
            </a:lvl1pPr>
            <a:lvl2pPr marL="742950" indent="-285750">
              <a:defRPr sz="1200" b="1">
                <a:solidFill>
                  <a:schemeClr val="tx1"/>
                </a:solidFill>
                <a:latin typeface="Verdana" panose="020B0604030504040204" pitchFamily="34" charset="0"/>
                <a:cs typeface="Arial" panose="020B0604020202020204" pitchFamily="34" charset="0"/>
              </a:defRPr>
            </a:lvl2pPr>
            <a:lvl3pPr marL="1143000" indent="-228600">
              <a:defRPr sz="1200" b="1">
                <a:solidFill>
                  <a:schemeClr val="tx1"/>
                </a:solidFill>
                <a:latin typeface="Verdana" panose="020B0604030504040204" pitchFamily="34" charset="0"/>
                <a:cs typeface="Arial" panose="020B0604020202020204" pitchFamily="34" charset="0"/>
              </a:defRPr>
            </a:lvl3pPr>
            <a:lvl4pPr marL="1600200" indent="-228600">
              <a:defRPr sz="1200" b="1">
                <a:solidFill>
                  <a:schemeClr val="tx1"/>
                </a:solidFill>
                <a:latin typeface="Verdana" panose="020B0604030504040204" pitchFamily="34" charset="0"/>
                <a:cs typeface="Arial" panose="020B0604020202020204" pitchFamily="34" charset="0"/>
              </a:defRPr>
            </a:lvl4pPr>
            <a:lvl5pPr marL="2057400" indent="-228600">
              <a:defRPr sz="12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2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2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2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200" b="1">
                <a:solidFill>
                  <a:schemeClr val="tx1"/>
                </a:solidFill>
                <a:latin typeface="Verdana" panose="020B0604030504040204" pitchFamily="34" charset="0"/>
                <a:cs typeface="Arial" panose="020B0604020202020204" pitchFamily="34" charset="0"/>
              </a:defRPr>
            </a:lvl9pPr>
          </a:lstStyle>
          <a:p>
            <a:pPr eaLnBrk="1" hangingPunct="1">
              <a:spcBef>
                <a:spcPct val="50000"/>
              </a:spcBef>
              <a:buFontTx/>
              <a:buChar char="•"/>
            </a:pPr>
            <a:endParaRPr lang="en-US" altLang="en-US"/>
          </a:p>
        </p:txBody>
      </p:sp>
      <p:sp>
        <p:nvSpPr>
          <p:cNvPr id="1032" name="Text Box 10"/>
          <p:cNvSpPr txBox="1">
            <a:spLocks noChangeArrowheads="1"/>
          </p:cNvSpPr>
          <p:nvPr userDrawn="1"/>
        </p:nvSpPr>
        <p:spPr bwMode="auto">
          <a:xfrm>
            <a:off x="457200" y="6324600"/>
            <a:ext cx="2895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a:defRPr sz="1200" b="1">
                <a:solidFill>
                  <a:schemeClr val="tx1"/>
                </a:solidFill>
                <a:latin typeface="Verdana" panose="020B0604030504040204" pitchFamily="34" charset="0"/>
                <a:cs typeface="Arial" panose="020B0604020202020204" pitchFamily="34" charset="0"/>
              </a:defRPr>
            </a:lvl1pPr>
            <a:lvl2pPr marL="742950" indent="-285750">
              <a:defRPr sz="1200" b="1">
                <a:solidFill>
                  <a:schemeClr val="tx1"/>
                </a:solidFill>
                <a:latin typeface="Verdana" panose="020B0604030504040204" pitchFamily="34" charset="0"/>
                <a:cs typeface="Arial" panose="020B0604020202020204" pitchFamily="34" charset="0"/>
              </a:defRPr>
            </a:lvl2pPr>
            <a:lvl3pPr marL="1143000" indent="-228600">
              <a:defRPr sz="1200" b="1">
                <a:solidFill>
                  <a:schemeClr val="tx1"/>
                </a:solidFill>
                <a:latin typeface="Verdana" panose="020B0604030504040204" pitchFamily="34" charset="0"/>
                <a:cs typeface="Arial" panose="020B0604020202020204" pitchFamily="34" charset="0"/>
              </a:defRPr>
            </a:lvl3pPr>
            <a:lvl4pPr marL="1600200" indent="-228600">
              <a:defRPr sz="1200" b="1">
                <a:solidFill>
                  <a:schemeClr val="tx1"/>
                </a:solidFill>
                <a:latin typeface="Verdana" panose="020B0604030504040204" pitchFamily="34" charset="0"/>
                <a:cs typeface="Arial" panose="020B0604020202020204" pitchFamily="34" charset="0"/>
              </a:defRPr>
            </a:lvl4pPr>
            <a:lvl5pPr marL="2057400" indent="-228600">
              <a:defRPr sz="12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2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2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2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200" b="1">
                <a:solidFill>
                  <a:schemeClr val="tx1"/>
                </a:solidFill>
                <a:latin typeface="Verdana" panose="020B0604030504040204" pitchFamily="34" charset="0"/>
                <a:cs typeface="Arial" panose="020B0604020202020204" pitchFamily="34" charset="0"/>
              </a:defRPr>
            </a:lvl9pPr>
          </a:lstStyle>
          <a:p>
            <a:pPr eaLnBrk="1" hangingPunct="1">
              <a:spcBef>
                <a:spcPct val="50000"/>
              </a:spcBef>
            </a:pPr>
            <a:fld id="{E1D749F7-539B-49A9-A2E1-FB0B5517981E}" type="datetime3">
              <a:rPr lang="en-US" altLang="en-US">
                <a:solidFill>
                  <a:srgbClr val="0000FF"/>
                </a:solidFill>
              </a:rPr>
              <a:pPr eaLnBrk="1" hangingPunct="1">
                <a:spcBef>
                  <a:spcPct val="50000"/>
                </a:spcBef>
              </a:pPr>
              <a:t>11 August 2025</a:t>
            </a:fld>
            <a:endParaRPr lang="en-US" altLang="en-US">
              <a:solidFill>
                <a:srgbClr val="0000FF"/>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zoom/>
  </p:transition>
  <p:hf sldNum="0" hdr="0" dt="0"/>
  <p:txStyles>
    <p:titleStyle>
      <a:lvl1pPr algn="ctr" rtl="0" eaLnBrk="0" fontAlgn="base" hangingPunct="0">
        <a:spcBef>
          <a:spcPct val="0"/>
        </a:spcBef>
        <a:spcAft>
          <a:spcPct val="0"/>
        </a:spcAft>
        <a:defRPr sz="2400" b="1">
          <a:solidFill>
            <a:schemeClr val="tx2"/>
          </a:solidFill>
          <a:latin typeface="+mj-lt"/>
          <a:ea typeface="+mj-ea"/>
          <a:cs typeface="+mj-cs"/>
        </a:defRPr>
      </a:lvl1pPr>
      <a:lvl2pPr algn="ctr" rtl="0" eaLnBrk="0" fontAlgn="base" hangingPunct="0">
        <a:spcBef>
          <a:spcPct val="0"/>
        </a:spcBef>
        <a:spcAft>
          <a:spcPct val="0"/>
        </a:spcAft>
        <a:defRPr sz="2400" b="1">
          <a:solidFill>
            <a:schemeClr val="tx2"/>
          </a:solidFill>
          <a:latin typeface="Times New Roman" panose="02020603050405020304" pitchFamily="18" charset="0"/>
        </a:defRPr>
      </a:lvl2pPr>
      <a:lvl3pPr algn="ctr" rtl="0" eaLnBrk="0" fontAlgn="base" hangingPunct="0">
        <a:spcBef>
          <a:spcPct val="0"/>
        </a:spcBef>
        <a:spcAft>
          <a:spcPct val="0"/>
        </a:spcAft>
        <a:defRPr sz="2400" b="1">
          <a:solidFill>
            <a:schemeClr val="tx2"/>
          </a:solidFill>
          <a:latin typeface="Times New Roman" panose="02020603050405020304" pitchFamily="18" charset="0"/>
        </a:defRPr>
      </a:lvl3pPr>
      <a:lvl4pPr algn="ctr" rtl="0" eaLnBrk="0" fontAlgn="base" hangingPunct="0">
        <a:spcBef>
          <a:spcPct val="0"/>
        </a:spcBef>
        <a:spcAft>
          <a:spcPct val="0"/>
        </a:spcAft>
        <a:defRPr sz="2400" b="1">
          <a:solidFill>
            <a:schemeClr val="tx2"/>
          </a:solidFill>
          <a:latin typeface="Times New Roman" panose="02020603050405020304" pitchFamily="18" charset="0"/>
        </a:defRPr>
      </a:lvl4pPr>
      <a:lvl5pPr algn="ctr" rtl="0" eaLnBrk="0" fontAlgn="base" hangingPunct="0">
        <a:spcBef>
          <a:spcPct val="0"/>
        </a:spcBef>
        <a:spcAft>
          <a:spcPct val="0"/>
        </a:spcAft>
        <a:defRPr sz="2400" b="1">
          <a:solidFill>
            <a:schemeClr val="tx2"/>
          </a:solidFill>
          <a:latin typeface="Times New Roman" panose="02020603050405020304" pitchFamily="18" charset="0"/>
        </a:defRPr>
      </a:lvl5pPr>
      <a:lvl6pPr marL="457200" algn="ctr" rtl="0" fontAlgn="base">
        <a:spcBef>
          <a:spcPct val="0"/>
        </a:spcBef>
        <a:spcAft>
          <a:spcPct val="0"/>
        </a:spcAft>
        <a:defRPr sz="2400" b="1">
          <a:solidFill>
            <a:schemeClr val="tx2"/>
          </a:solidFill>
          <a:latin typeface="Times New Roman" panose="02020603050405020304" pitchFamily="18" charset="0"/>
        </a:defRPr>
      </a:lvl6pPr>
      <a:lvl7pPr marL="914400" algn="ctr" rtl="0" fontAlgn="base">
        <a:spcBef>
          <a:spcPct val="0"/>
        </a:spcBef>
        <a:spcAft>
          <a:spcPct val="0"/>
        </a:spcAft>
        <a:defRPr sz="2400" b="1">
          <a:solidFill>
            <a:schemeClr val="tx2"/>
          </a:solidFill>
          <a:latin typeface="Times New Roman" panose="02020603050405020304" pitchFamily="18" charset="0"/>
        </a:defRPr>
      </a:lvl7pPr>
      <a:lvl8pPr marL="1371600" algn="ctr" rtl="0" fontAlgn="base">
        <a:spcBef>
          <a:spcPct val="0"/>
        </a:spcBef>
        <a:spcAft>
          <a:spcPct val="0"/>
        </a:spcAft>
        <a:defRPr sz="2400" b="1">
          <a:solidFill>
            <a:schemeClr val="tx2"/>
          </a:solidFill>
          <a:latin typeface="Times New Roman" panose="02020603050405020304" pitchFamily="18" charset="0"/>
        </a:defRPr>
      </a:lvl8pPr>
      <a:lvl9pPr marL="1828800" algn="ctr" rtl="0" fontAlgn="base">
        <a:spcBef>
          <a:spcPct val="0"/>
        </a:spcBef>
        <a:spcAft>
          <a:spcPct val="0"/>
        </a:spcAft>
        <a:defRPr sz="2400" b="1">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en-US"/>
              <a:t>Click to edit Master title style</a:t>
            </a:r>
          </a:p>
        </p:txBody>
      </p:sp>
      <p:sp>
        <p:nvSpPr>
          <p:cNvPr id="2051"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2228" name="Rectangle 4"/>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eaLnBrk="1" hangingPunct="1">
              <a:spcBef>
                <a:spcPct val="0"/>
              </a:spcBef>
              <a:buFontTx/>
              <a:buNone/>
              <a:defRPr sz="1400" b="0">
                <a:latin typeface="Times New Roman" panose="02020603050405020304" pitchFamily="18" charset="0"/>
                <a:cs typeface="+mn-cs"/>
              </a:defRPr>
            </a:lvl1pPr>
          </a:lstStyle>
          <a:p>
            <a:pPr>
              <a:defRPr/>
            </a:pPr>
            <a:endParaRPr lang="en-US"/>
          </a:p>
        </p:txBody>
      </p:sp>
      <p:sp>
        <p:nvSpPr>
          <p:cNvPr id="52229"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spcBef>
                <a:spcPct val="0"/>
              </a:spcBef>
              <a:buFontTx/>
              <a:buNone/>
              <a:defRPr sz="1400" b="0">
                <a:latin typeface="Times New Roman" panose="02020603050405020304" pitchFamily="18" charset="0"/>
                <a:cs typeface="+mn-cs"/>
              </a:defRPr>
            </a:lvl1pPr>
          </a:lstStyle>
          <a:p>
            <a:pPr>
              <a:defRPr/>
            </a:pPr>
            <a:endParaRPr lang="en-US"/>
          </a:p>
        </p:txBody>
      </p:sp>
      <p:sp>
        <p:nvSpPr>
          <p:cNvPr id="52230"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b="0" smtClean="0">
                <a:latin typeface="Times New Roman" panose="02020603050405020304" pitchFamily="18" charset="0"/>
              </a:defRPr>
            </a:lvl1pPr>
          </a:lstStyle>
          <a:p>
            <a:pPr>
              <a:defRPr/>
            </a:pPr>
            <a:fld id="{86627DD0-DD15-4C20-941C-71CFC91F0009}"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ieeexplore.ieee.org/document/10005100" TargetMode="External"/><Relationship Id="rId2" Type="http://schemas.openxmlformats.org/officeDocument/2006/relationships/hyperlink" Target="https://ieeexplore.ieee.org/document/10742913"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ieeexplore.ieee.org/document/8622524" TargetMode="External"/><Relationship Id="rId2" Type="http://schemas.openxmlformats.org/officeDocument/2006/relationships/hyperlink" Target="https://www.oajaiml.com/uploads/archivepdf/847343150.pdf"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onlinelibrary.wiley.com/doi/10.1002/nem.2258"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SRS.pdf.docx"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UNR-IDD%20dataset.xlsx"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1"/>
          <p:cNvSpPr txBox="1">
            <a:spLocks noChangeArrowheads="1"/>
          </p:cNvSpPr>
          <p:nvPr/>
        </p:nvSpPr>
        <p:spPr bwMode="auto">
          <a:xfrm>
            <a:off x="685800" y="130175"/>
            <a:ext cx="8350696" cy="2103438"/>
          </a:xfrm>
          <a:prstGeom prst="rect">
            <a:avLst/>
          </a:prstGeom>
          <a:noFill/>
          <a:ln w="9525">
            <a:noFill/>
            <a:round/>
          </a:ln>
        </p:spPr>
        <p:txBody>
          <a:bodyPr lIns="90000" tIns="46800" rIns="90000" bIns="46800" anchor="ctr"/>
          <a:lstStyle/>
          <a:p>
            <a:pPr algn="ctr"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800" dirty="0"/>
              <a:t>Bringing to Light: Adversarial Poisoning Detection for ML-Based IDS in Software-Defined Networks</a:t>
            </a:r>
            <a:endParaRPr lang="en-US" sz="28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0" name="Text Box 2"/>
          <p:cNvSpPr txBox="1">
            <a:spLocks noChangeArrowheads="1"/>
          </p:cNvSpPr>
          <p:nvPr/>
        </p:nvSpPr>
        <p:spPr bwMode="auto">
          <a:xfrm>
            <a:off x="974948" y="1988840"/>
            <a:ext cx="7772400" cy="3512514"/>
          </a:xfrm>
          <a:prstGeom prst="rect">
            <a:avLst/>
          </a:prstGeom>
          <a:noFill/>
          <a:ln w="9525">
            <a:noFill/>
            <a:round/>
          </a:ln>
        </p:spPr>
        <p:txBody>
          <a:bodyPr lIns="90000" tIns="46800" rIns="90000" bIns="46800"/>
          <a:lstStyle/>
          <a:p>
            <a:pPr marL="342900" indent="-338455" eaLnBrk="1" hangingPunct="1">
              <a:lnSpc>
                <a:spcPct val="90000"/>
              </a:lnSpc>
              <a:spcBef>
                <a:spcPts val="700"/>
              </a:spcBef>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pPr>
            <a:endParaRPr lang="en-US" sz="2400" b="0" dirty="0">
              <a:solidFill>
                <a:srgbClr val="000000"/>
              </a:solidFill>
              <a:latin typeface="Arial" panose="020B0604020202020204" pitchFamily="34" charset="0"/>
              <a:cs typeface="+mn-cs"/>
            </a:endParaRPr>
          </a:p>
          <a:p>
            <a:pPr marL="342900" indent="-338455" eaLnBrk="1" hangingPunct="1">
              <a:lnSpc>
                <a:spcPct val="90000"/>
              </a:lnSpc>
              <a:spcBef>
                <a:spcPts val="700"/>
              </a:spcBef>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pPr>
            <a:r>
              <a:rPr lang="en-US" sz="2400" dirty="0">
                <a:solidFill>
                  <a:schemeClr val="accent1">
                    <a:lumMod val="50000"/>
                  </a:schemeClr>
                </a:solidFill>
                <a:latin typeface="Times New Roman" panose="02020603050405020304" pitchFamily="18" charset="0"/>
                <a:cs typeface="Times New Roman" panose="02020603050405020304" pitchFamily="18" charset="0"/>
              </a:rPr>
              <a:t>MEMBERS</a:t>
            </a:r>
            <a:r>
              <a:rPr lang="en-US" sz="2400" dirty="0">
                <a:solidFill>
                  <a:srgbClr val="00664D"/>
                </a:solidFill>
                <a:latin typeface="Times New Roman" panose="02020603050405020304" pitchFamily="18" charset="0"/>
                <a:cs typeface="Times New Roman" panose="02020603050405020304" pitchFamily="18" charset="0"/>
              </a:rPr>
              <a:t>:</a:t>
            </a:r>
          </a:p>
          <a:p>
            <a:pPr marL="342900" indent="-338455" eaLnBrk="1" hangingPunct="1">
              <a:lnSpc>
                <a:spcPct val="90000"/>
              </a:lnSpc>
              <a:spcBef>
                <a:spcPts val="500"/>
              </a:spcBef>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pPr>
            <a:r>
              <a:rPr lang="en-US" sz="2400" b="0" dirty="0">
                <a:solidFill>
                  <a:srgbClr val="000000"/>
                </a:solidFill>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SHINMAYA	               9517202306091</a:t>
            </a:r>
          </a:p>
          <a:p>
            <a:r>
              <a:rPr lang="en-US" sz="2400" dirty="0">
                <a:latin typeface="Times New Roman" panose="02020603050405020304" pitchFamily="18" charset="0"/>
                <a:cs typeface="Times New Roman" panose="02020603050405020304" pitchFamily="18" charset="0"/>
              </a:rPr>
              <a:t>SHREE HARINI K     9517202306092</a:t>
            </a:r>
          </a:p>
          <a:p>
            <a:r>
              <a:rPr lang="en-US" sz="2400" dirty="0">
                <a:latin typeface="Times New Roman" panose="02020603050405020304" pitchFamily="18" charset="0"/>
                <a:cs typeface="Times New Roman" panose="02020603050405020304" pitchFamily="18" charset="0"/>
              </a:rPr>
              <a:t>VARSHA G.A               95172023060111</a:t>
            </a:r>
            <a:endParaRPr lang="en-IN" sz="2400" dirty="0">
              <a:latin typeface="Times New Roman" panose="02020603050405020304" pitchFamily="18" charset="0"/>
              <a:cs typeface="Times New Roman" panose="02020603050405020304" pitchFamily="18" charset="0"/>
            </a:endParaRPr>
          </a:p>
          <a:p>
            <a:pPr marL="342900" indent="-338455" eaLnBrk="1" hangingPunct="1">
              <a:lnSpc>
                <a:spcPct val="150000"/>
              </a:lnSpc>
              <a:spcBef>
                <a:spcPts val="500"/>
              </a:spcBef>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pPr>
            <a:br>
              <a:rPr lang="en-US" sz="2400" b="0" dirty="0">
                <a:solidFill>
                  <a:srgbClr val="000000"/>
                </a:solidFill>
                <a:latin typeface="Times New Roman" panose="02020603050405020304" pitchFamily="18" charset="0"/>
                <a:cs typeface="Times New Roman" panose="02020603050405020304" pitchFamily="18" charset="0"/>
              </a:rPr>
            </a:br>
            <a:r>
              <a:rPr lang="en-US" sz="2400" b="0" dirty="0">
                <a:solidFill>
                  <a:srgbClr val="000000"/>
                </a:solidFill>
                <a:latin typeface="Times New Roman" panose="02020603050405020304" pitchFamily="18" charset="0"/>
                <a:cs typeface="Times New Roman" panose="02020603050405020304" pitchFamily="18" charset="0"/>
              </a:rPr>
              <a:t>	 </a:t>
            </a:r>
            <a:br>
              <a:rPr lang="en-US" sz="2400" dirty="0">
                <a:solidFill>
                  <a:srgbClr val="000000"/>
                </a:solidFill>
                <a:latin typeface="Times New Roman" panose="02020603050405020304" pitchFamily="18" charset="0"/>
                <a:cs typeface="Times New Roman" panose="02020603050405020304" pitchFamily="18" charset="0"/>
              </a:rPr>
            </a:br>
            <a:br>
              <a:rPr lang="en-US" sz="2400" b="0" dirty="0">
                <a:solidFill>
                  <a:srgbClr val="000000"/>
                </a:solidFill>
                <a:latin typeface="Arial" panose="020B0604020202020204" pitchFamily="34" charset="0"/>
                <a:cs typeface="Times New Roman" panose="02020603050405020304" pitchFamily="18" charset="0"/>
              </a:rPr>
            </a:br>
            <a:endParaRPr lang="en-US" sz="2400" b="0" dirty="0">
              <a:solidFill>
                <a:srgbClr val="000000"/>
              </a:solidFill>
              <a:latin typeface="Arial" panose="020B0604020202020204" pitchFamily="34" charset="0"/>
              <a:cs typeface="Times New Roman" panose="02020603050405020304" pitchFamily="18" charset="0"/>
            </a:endParaRPr>
          </a:p>
        </p:txBody>
      </p:sp>
      <p:sp>
        <p:nvSpPr>
          <p:cNvPr id="11" name="Footer Placeholder 3"/>
          <p:cNvSpPr>
            <a:spLocks noGrp="1"/>
          </p:cNvSpPr>
          <p:nvPr>
            <p:ph type="ftr" sz="quarter" idx="10"/>
          </p:nvPr>
        </p:nvSpPr>
        <p:spPr>
          <a:xfrm>
            <a:off x="3124200" y="6248400"/>
            <a:ext cx="2890838" cy="458788"/>
          </a:xfrm>
        </p:spPr>
        <p:txBody>
          <a:bodyPr/>
          <a:lstStyle/>
          <a:p>
            <a:pPr>
              <a:defRPr/>
            </a:pPr>
            <a:r>
              <a:rPr lang="en-US" dirty="0"/>
              <a:t>Department of IT</a:t>
            </a:r>
          </a:p>
        </p:txBody>
      </p:sp>
      <p:sp>
        <p:nvSpPr>
          <p:cNvPr id="2" name="Text Box 1"/>
          <p:cNvSpPr txBox="1"/>
          <p:nvPr/>
        </p:nvSpPr>
        <p:spPr>
          <a:xfrm>
            <a:off x="1092835" y="4868545"/>
            <a:ext cx="8051165" cy="1261884"/>
          </a:xfrm>
          <a:prstGeom prst="rect">
            <a:avLst/>
          </a:prstGeom>
          <a:noFill/>
        </p:spPr>
        <p:txBody>
          <a:bodyPr wrap="square" rtlCol="0">
            <a:spAutoFit/>
          </a:bodyPr>
          <a:lstStyle/>
          <a:p>
            <a:r>
              <a:rPr lang="en-US" sz="2400" dirty="0">
                <a:solidFill>
                  <a:schemeClr val="accent1">
                    <a:lumMod val="50000"/>
                  </a:schemeClr>
                </a:solidFill>
                <a:latin typeface="Times New Roman" panose="02020603050405020304" pitchFamily="18" charset="0"/>
                <a:cs typeface="Times New Roman" panose="02020603050405020304" pitchFamily="18" charset="0"/>
                <a:sym typeface="+mn-ea"/>
              </a:rPr>
              <a:t>MENTOR:</a:t>
            </a:r>
            <a:r>
              <a:rPr lang="en-IN" sz="2800" dirty="0" err="1">
                <a:latin typeface="+mn-lt"/>
              </a:rPr>
              <a:t>Mr.M.V.Balaganesh</a:t>
            </a:r>
            <a:r>
              <a:rPr lang="en-US" sz="2800" dirty="0">
                <a:latin typeface="+mn-lt"/>
              </a:rPr>
              <a:t> </a:t>
            </a:r>
            <a:r>
              <a:rPr lang="en-IN" sz="2400" dirty="0">
                <a:latin typeface="+mn-lt"/>
              </a:rPr>
              <a:t>BTech, MTech</a:t>
            </a:r>
          </a:p>
          <a:p>
            <a:r>
              <a:rPr lang="en-IN" sz="2400" dirty="0">
                <a:latin typeface="+mn-lt"/>
              </a:rPr>
              <a:t>                         Assistant Professor</a:t>
            </a:r>
          </a:p>
          <a:p>
            <a:endParaRPr lang="en-US" sz="24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76672"/>
            <a:ext cx="7772400" cy="639688"/>
          </a:xfrm>
        </p:spPr>
        <p:txBody>
          <a:bodyPr/>
          <a:lstStyle/>
          <a:p>
            <a:r>
              <a:rPr lang="en-US" dirty="0"/>
              <a:t>INTRODUCTION</a:t>
            </a:r>
          </a:p>
        </p:txBody>
      </p:sp>
      <p:sp>
        <p:nvSpPr>
          <p:cNvPr id="3" name="Content Placeholder 2"/>
          <p:cNvSpPr>
            <a:spLocks noGrp="1"/>
          </p:cNvSpPr>
          <p:nvPr>
            <p:ph idx="1"/>
          </p:nvPr>
        </p:nvSpPr>
        <p:spPr>
          <a:xfrm>
            <a:off x="685800" y="1268760"/>
            <a:ext cx="8458200" cy="4827240"/>
          </a:xfrm>
        </p:spPr>
        <p:txBody>
          <a:bodyPr/>
          <a:lstStyle/>
          <a:p>
            <a:pPr marL="0" indent="0">
              <a:buNone/>
            </a:pPr>
            <a:r>
              <a:rPr lang="en-US" b="1" dirty="0"/>
              <a:t>Overview:</a:t>
            </a:r>
          </a:p>
          <a:p>
            <a:pPr marL="0" indent="0">
              <a:buNone/>
            </a:pPr>
            <a:endParaRPr lang="en-US" b="1" dirty="0"/>
          </a:p>
          <a:p>
            <a:r>
              <a:rPr lang="en-US" sz="2000" dirty="0"/>
              <a:t> Network intrusion detection systems (NIDS) in software-defined networks (SDNs) are vulnerable to adversarial poisoning attacks, like Random Label Manipulation (RLM).</a:t>
            </a:r>
          </a:p>
          <a:p>
            <a:r>
              <a:rPr lang="en-US" sz="2000" dirty="0"/>
              <a:t> TAPD (Trans-controller Adversarial Perturbation Detection) is a new framework to detect RLM attacks in multi-controller SDNs.</a:t>
            </a:r>
          </a:p>
          <a:p>
            <a:r>
              <a:rPr lang="en-US" sz="2000" dirty="0"/>
              <a:t> TAPD can efficiently detect RLM attacks and pinpoint compromised controllers, even with a significant number of infected agents in the network.</a:t>
            </a:r>
          </a:p>
          <a:p>
            <a:endParaRPr lang="en-US" sz="2400" dirty="0"/>
          </a:p>
        </p:txBody>
      </p:sp>
      <p:sp>
        <p:nvSpPr>
          <p:cNvPr id="4" name="Footer Placeholder 3"/>
          <p:cNvSpPr>
            <a:spLocks noGrp="1"/>
          </p:cNvSpPr>
          <p:nvPr>
            <p:ph type="ftr" sz="quarter" idx="10"/>
          </p:nvPr>
        </p:nvSpPr>
        <p:spPr/>
        <p:txBody>
          <a:bodyPr/>
          <a:lstStyle/>
          <a:p>
            <a:pPr>
              <a:defRPr/>
            </a:pPr>
            <a:r>
              <a:rPr lang="en-US" dirty="0"/>
              <a:t>Department of IT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348" y="0"/>
            <a:ext cx="7772400" cy="1143000"/>
          </a:xfrm>
        </p:spPr>
        <p:txBody>
          <a:bodyPr/>
          <a:lstStyle/>
          <a:p>
            <a:r>
              <a:rPr lang="en-US" dirty="0">
                <a:solidFill>
                  <a:srgbClr val="006600"/>
                </a:solidFill>
                <a:cs typeface="Times New Roman" panose="02020603050405020304" pitchFamily="18" charset="0"/>
              </a:rPr>
              <a:t>LITEARTURE SURVEY</a:t>
            </a:r>
            <a:br>
              <a:rPr lang="en-US" dirty="0">
                <a:solidFill>
                  <a:srgbClr val="006600"/>
                </a:solidFill>
                <a:cs typeface="Times New Roman" panose="02020603050405020304" pitchFamily="18" charset="0"/>
              </a:rPr>
            </a:br>
            <a:endParaRPr lang="en-US" dirty="0"/>
          </a:p>
        </p:txBody>
      </p:sp>
      <p:sp>
        <p:nvSpPr>
          <p:cNvPr id="3" name="Content Placeholder 2"/>
          <p:cNvSpPr>
            <a:spLocks noGrp="1"/>
          </p:cNvSpPr>
          <p:nvPr>
            <p:ph idx="1"/>
          </p:nvPr>
        </p:nvSpPr>
        <p:spPr>
          <a:xfrm>
            <a:off x="721296" y="692696"/>
            <a:ext cx="8422704" cy="5115272"/>
          </a:xfrm>
        </p:spPr>
        <p:txBody>
          <a:bodyPr/>
          <a:lstStyle/>
          <a:p>
            <a:pPr marL="0" indent="0">
              <a:buNone/>
            </a:pPr>
            <a:r>
              <a:rPr lang="en-US" sz="2400" b="1" dirty="0">
                <a:solidFill>
                  <a:schemeClr val="accent2"/>
                </a:solidFill>
              </a:rPr>
              <a:t> </a:t>
            </a:r>
          </a:p>
          <a:p>
            <a:pPr marL="0" indent="0">
              <a:buNone/>
            </a:pPr>
            <a:r>
              <a:rPr lang="en-IN" sz="2400" dirty="0">
                <a:solidFill>
                  <a:schemeClr val="accent2"/>
                </a:solidFill>
                <a:hlinkClick r:id="rId2">
                  <a:extLst>
                    <a:ext uri="{A12FA001-AC4F-418D-AE19-62706E023703}">
                      <ahyp:hlinkClr xmlns:ahyp="http://schemas.microsoft.com/office/drawing/2018/hyperlinkcolor" val="tx"/>
                    </a:ext>
                  </a:extLst>
                </a:hlinkClick>
              </a:rPr>
              <a:t>Poisoning the Well: Adversarial Poisoning on ML-Based Software-Defined Network Intrusion Detection Systems | IEEE Journals &amp; Magazine | IEEE Xplore</a:t>
            </a:r>
            <a:r>
              <a:rPr lang="en-IN" sz="2400" dirty="0">
                <a:solidFill>
                  <a:schemeClr val="accent2"/>
                </a:solidFill>
              </a:rPr>
              <a:t> :</a:t>
            </a:r>
          </a:p>
          <a:p>
            <a:pPr marL="0" indent="0">
              <a:buNone/>
            </a:pPr>
            <a:r>
              <a:rPr lang="en-IN" sz="2000" dirty="0"/>
              <a:t>The paper acknowledges the increasing reliance on ML algorithms in NIDS for protecting modern network communications. However, it points out that these ML algorithms are vulnerable to adversarial attacks that manipulate the ML pipeline. </a:t>
            </a:r>
            <a:endParaRPr lang="en-IN" sz="2000" dirty="0">
              <a:solidFill>
                <a:schemeClr val="accent2"/>
              </a:solidFill>
            </a:endParaRPr>
          </a:p>
          <a:p>
            <a:pPr marL="0" indent="0">
              <a:buNone/>
            </a:pPr>
            <a:r>
              <a:rPr lang="en-IN" sz="2400" dirty="0">
                <a:solidFill>
                  <a:schemeClr val="accent2"/>
                </a:solidFill>
                <a:hlinkClick r:id="rId3">
                  <a:extLst>
                    <a:ext uri="{A12FA001-AC4F-418D-AE19-62706E023703}">
                      <ahyp:hlinkClr xmlns:ahyp="http://schemas.microsoft.com/office/drawing/2018/hyperlinkcolor" val="tx"/>
                    </a:ext>
                  </a:extLst>
                </a:hlinkClick>
              </a:rPr>
              <a:t>Adversarial Machine Learning for Network Intrusion Detection Systems: A Comprehensive Survey | IEEE Journals &amp; Magazine | IEEE Xplore</a:t>
            </a:r>
            <a:endParaRPr lang="en-IN" sz="2400" dirty="0">
              <a:solidFill>
                <a:schemeClr val="accent2"/>
              </a:solidFill>
            </a:endParaRPr>
          </a:p>
          <a:p>
            <a:pPr marL="0" indent="0">
              <a:buNone/>
            </a:pPr>
            <a:r>
              <a:rPr lang="en-IN" sz="2000" dirty="0"/>
              <a:t>It introduces cybersecurity measures like firewalls, Intrusion Prevention Systems (IPS), and Intrusion Detection Systems (IDS). </a:t>
            </a:r>
          </a:p>
        </p:txBody>
      </p:sp>
      <p:sp>
        <p:nvSpPr>
          <p:cNvPr id="4" name="Footer Placeholder 3"/>
          <p:cNvSpPr>
            <a:spLocks noGrp="1"/>
          </p:cNvSpPr>
          <p:nvPr>
            <p:ph type="ftr" sz="quarter" idx="10"/>
          </p:nvPr>
        </p:nvSpPr>
        <p:spPr/>
        <p:txBody>
          <a:bodyPr/>
          <a:lstStyle/>
          <a:p>
            <a:pPr>
              <a:defRPr/>
            </a:pPr>
            <a:r>
              <a:rPr lang="en-US" dirty="0"/>
              <a:t>Department of IT</a:t>
            </a:r>
          </a:p>
        </p:txBody>
      </p:sp>
    </p:spTree>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70AFF6-A7DF-1E7C-A3D9-8FF82713F918}"/>
              </a:ext>
            </a:extLst>
          </p:cNvPr>
          <p:cNvSpPr>
            <a:spLocks noGrp="1"/>
          </p:cNvSpPr>
          <p:nvPr>
            <p:ph idx="1"/>
          </p:nvPr>
        </p:nvSpPr>
        <p:spPr>
          <a:xfrm>
            <a:off x="899592" y="1268760"/>
            <a:ext cx="8136904" cy="5200867"/>
          </a:xfrm>
        </p:spPr>
        <p:txBody>
          <a:bodyPr>
            <a:normAutofit/>
          </a:bodyPr>
          <a:lstStyle/>
          <a:p>
            <a:pPr marL="0" indent="0">
              <a:buNone/>
            </a:pPr>
            <a:r>
              <a:rPr lang="en-IN" sz="2400" dirty="0">
                <a:solidFill>
                  <a:schemeClr val="accent2"/>
                </a:solidFill>
                <a:hlinkClick r:id="rId2">
                  <a:extLst>
                    <a:ext uri="{A12FA001-AC4F-418D-AE19-62706E023703}">
                      <ahyp:hlinkClr xmlns:ahyp="http://schemas.microsoft.com/office/drawing/2018/hyperlinkcolor" val="tx"/>
                    </a:ext>
                  </a:extLst>
                </a:hlinkClick>
              </a:rPr>
              <a:t>847343150.pdf</a:t>
            </a:r>
            <a:r>
              <a:rPr lang="en-IN" sz="2400" dirty="0">
                <a:solidFill>
                  <a:schemeClr val="accent2"/>
                </a:solidFill>
              </a:rPr>
              <a:t>:</a:t>
            </a:r>
            <a:r>
              <a:rPr lang="en-US" sz="2400" dirty="0"/>
              <a:t>Advancing Network Intrusion Detection Systems with Machine Learning Techniques</a:t>
            </a:r>
          </a:p>
          <a:p>
            <a:pPr marL="0" indent="0">
              <a:buNone/>
            </a:pPr>
            <a:r>
              <a:rPr lang="en-IN" sz="2000" dirty="0"/>
              <a:t>It introduces cybersecurity measures like firewalls, Intrusion Prevention Systems (IPS), and Intrusion Detection Systems (IDS)</a:t>
            </a:r>
            <a:endParaRPr lang="en-US" sz="2000" dirty="0"/>
          </a:p>
          <a:p>
            <a:pPr marL="0" indent="0">
              <a:buNone/>
            </a:pPr>
            <a:r>
              <a:rPr lang="en-US" sz="2400" dirty="0">
                <a:solidFill>
                  <a:schemeClr val="accent2"/>
                </a:solidFill>
                <a:hlinkClick r:id="rId3">
                  <a:extLst>
                    <a:ext uri="{A12FA001-AC4F-418D-AE19-62706E023703}">
                      <ahyp:hlinkClr xmlns:ahyp="http://schemas.microsoft.com/office/drawing/2018/hyperlinkcolor" val="tx"/>
                    </a:ext>
                  </a:extLst>
                </a:hlinkClick>
              </a:rPr>
              <a:t>Towards Prediction of Security Attacks on Software Defined Networks: A Big Data Analytic Approach | IEEE Conference Publication | IEEE Xplore</a:t>
            </a:r>
            <a:endParaRPr lang="en-US" sz="2400" dirty="0">
              <a:solidFill>
                <a:schemeClr val="accent2"/>
              </a:solidFill>
            </a:endParaRPr>
          </a:p>
          <a:p>
            <a:pPr marL="0" indent="0">
              <a:buNone/>
            </a:pPr>
            <a:r>
              <a:rPr lang="en-IN" sz="2000" dirty="0"/>
              <a:t>This paper investigates the application of popular machine learning (ML) algorithms The study uses experimental data from an emulated SDN architecture to build classification models, aiming to illustrate the efficacy of ML in identifying attacks</a:t>
            </a:r>
          </a:p>
        </p:txBody>
      </p:sp>
      <p:sp>
        <p:nvSpPr>
          <p:cNvPr id="4" name="Footer Placeholder 3">
            <a:extLst>
              <a:ext uri="{FF2B5EF4-FFF2-40B4-BE49-F238E27FC236}">
                <a16:creationId xmlns:a16="http://schemas.microsoft.com/office/drawing/2014/main" id="{7B3A8CF0-AA57-F8BC-74C6-C8B916072E90}"/>
              </a:ext>
            </a:extLst>
          </p:cNvPr>
          <p:cNvSpPr>
            <a:spLocks noGrp="1"/>
          </p:cNvSpPr>
          <p:nvPr>
            <p:ph type="ftr" sz="quarter" idx="10"/>
          </p:nvPr>
        </p:nvSpPr>
        <p:spPr>
          <a:xfrm>
            <a:off x="3124200" y="6282580"/>
            <a:ext cx="2890838" cy="458788"/>
          </a:xfrm>
        </p:spPr>
        <p:txBody>
          <a:bodyPr/>
          <a:lstStyle/>
          <a:p>
            <a:pPr>
              <a:defRPr/>
            </a:pPr>
            <a:r>
              <a:rPr lang="en-US" dirty="0"/>
              <a:t>Department of IT</a:t>
            </a:r>
          </a:p>
        </p:txBody>
      </p:sp>
    </p:spTree>
    <p:extLst>
      <p:ext uri="{BB962C8B-B14F-4D97-AF65-F5344CB8AC3E}">
        <p14:creationId xmlns:p14="http://schemas.microsoft.com/office/powerpoint/2010/main" val="2047381549"/>
      </p:ext>
    </p:extLst>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551EA71-CC3F-FE21-7EF6-FE6DCC7929D6}"/>
              </a:ext>
            </a:extLst>
          </p:cNvPr>
          <p:cNvSpPr>
            <a:spLocks noGrp="1"/>
          </p:cNvSpPr>
          <p:nvPr>
            <p:ph type="ftr" sz="quarter" idx="10"/>
          </p:nvPr>
        </p:nvSpPr>
        <p:spPr/>
        <p:txBody>
          <a:bodyPr/>
          <a:lstStyle/>
          <a:p>
            <a:pPr>
              <a:defRPr/>
            </a:pPr>
            <a:r>
              <a:rPr lang="en-US"/>
              <a:t>Department of IT</a:t>
            </a:r>
            <a:endParaRPr lang="en-US" dirty="0"/>
          </a:p>
        </p:txBody>
      </p:sp>
      <p:sp>
        <p:nvSpPr>
          <p:cNvPr id="4" name="TextBox 3">
            <a:extLst>
              <a:ext uri="{FF2B5EF4-FFF2-40B4-BE49-F238E27FC236}">
                <a16:creationId xmlns:a16="http://schemas.microsoft.com/office/drawing/2014/main" id="{FFE660E8-44B5-3B5A-DBA2-E86B38A8235E}"/>
              </a:ext>
            </a:extLst>
          </p:cNvPr>
          <p:cNvSpPr txBox="1"/>
          <p:nvPr/>
        </p:nvSpPr>
        <p:spPr>
          <a:xfrm>
            <a:off x="1115616" y="634446"/>
            <a:ext cx="6912768" cy="3908762"/>
          </a:xfrm>
          <a:prstGeom prst="rect">
            <a:avLst/>
          </a:prstGeom>
          <a:noFill/>
        </p:spPr>
        <p:txBody>
          <a:bodyPr wrap="square">
            <a:spAutoFit/>
          </a:bodyPr>
          <a:lstStyle/>
          <a:p>
            <a:pPr marL="0" indent="0">
              <a:buNone/>
            </a:pPr>
            <a:r>
              <a:rPr lang="en-US" sz="2400" b="0" dirty="0">
                <a:solidFill>
                  <a:schemeClr val="accent2"/>
                </a:solidFill>
                <a:latin typeface="+mn-lt"/>
                <a:hlinkClick r:id="rId2">
                  <a:extLst>
                    <a:ext uri="{A12FA001-AC4F-418D-AE19-62706E023703}">
                      <ahyp:hlinkClr xmlns:ahyp="http://schemas.microsoft.com/office/drawing/2018/hyperlinkcolor" val="tx"/>
                    </a:ext>
                  </a:extLst>
                </a:hlinkClick>
              </a:rPr>
              <a:t>TPAAD: Two‐phase authentication system for denial of service attack detection and mitigation using machine learning in software‐defined network - Nisa - 2024 - International Journal of Network Management - Wiley Online Library</a:t>
            </a:r>
            <a:endParaRPr lang="en-US" sz="2400" b="0" dirty="0">
              <a:solidFill>
                <a:schemeClr val="accent2"/>
              </a:solidFill>
              <a:latin typeface="+mn-lt"/>
            </a:endParaRPr>
          </a:p>
          <a:p>
            <a:pPr marL="0" indent="0">
              <a:buNone/>
            </a:pPr>
            <a:endParaRPr lang="en-IN" sz="2400" dirty="0">
              <a:solidFill>
                <a:schemeClr val="accent2"/>
              </a:solidFill>
              <a:latin typeface="+mn-lt"/>
              <a:cs typeface="Times New Roman" panose="02020603050405020304" pitchFamily="18" charset="0"/>
            </a:endParaRPr>
          </a:p>
          <a:p>
            <a:r>
              <a:rPr lang="en-IN" sz="2000" b="0" dirty="0">
                <a:latin typeface="+mn-lt"/>
              </a:rPr>
              <a:t>This paper investigates the application of popular machine learning (ML) algorithms for the detection and classification of Distributed Denial of Service (DDoS) flooding attacks on Software-Defined Networks (SDNs). </a:t>
            </a:r>
            <a:endParaRPr lang="en-US" sz="2000" b="0" dirty="0">
              <a:solidFill>
                <a:srgbClr val="CCCCFF"/>
              </a:solidFill>
              <a:latin typeface="+mn-lt"/>
              <a:hlinkClick r:id="rId2">
                <a:extLst>
                  <a:ext uri="{A12FA001-AC4F-418D-AE19-62706E023703}">
                    <ahyp:hlinkClr xmlns:ahyp="http://schemas.microsoft.com/office/drawing/2018/hyperlinkcolor" val="tx"/>
                  </a:ext>
                </a:extLst>
              </a:hlinkClick>
            </a:endParaRPr>
          </a:p>
          <a:p>
            <a:pPr marL="0" indent="0">
              <a:buNone/>
            </a:pPr>
            <a:endParaRPr lang="en-IN" sz="2400" dirty="0">
              <a:solidFill>
                <a:schemeClr val="accent2"/>
              </a:solidFill>
              <a:latin typeface="+mn-lt"/>
              <a:cs typeface="Times New Roman" panose="02020603050405020304" pitchFamily="18" charset="0"/>
            </a:endParaRPr>
          </a:p>
        </p:txBody>
      </p:sp>
    </p:spTree>
    <p:extLst>
      <p:ext uri="{BB962C8B-B14F-4D97-AF65-F5344CB8AC3E}">
        <p14:creationId xmlns:p14="http://schemas.microsoft.com/office/powerpoint/2010/main" val="380330591"/>
      </p:ext>
    </p:extLst>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50BE70-6CF7-E12F-30C3-B523D9D93025}"/>
              </a:ext>
            </a:extLst>
          </p:cNvPr>
          <p:cNvSpPr>
            <a:spLocks noGrp="1"/>
          </p:cNvSpPr>
          <p:nvPr>
            <p:ph idx="1"/>
          </p:nvPr>
        </p:nvSpPr>
        <p:spPr>
          <a:xfrm>
            <a:off x="827584" y="1268760"/>
            <a:ext cx="7776864" cy="4320480"/>
          </a:xfrm>
        </p:spPr>
        <p:txBody>
          <a:bodyPr/>
          <a:lstStyle/>
          <a:p>
            <a:pPr marL="457200" lvl="1" indent="0">
              <a:buNone/>
            </a:pPr>
            <a:r>
              <a:rPr lang="en-US" sz="2000" dirty="0">
                <a:latin typeface="Times New Roman" panose="02020603050405020304" pitchFamily="18" charset="0"/>
                <a:cs typeface="Times New Roman" panose="02020603050405020304" pitchFamily="18" charset="0"/>
              </a:rPr>
              <a:t>This paper talks about a problem where ML-based network intrusion detection systems (called NIDS) in multi-controller software-defined networks (MSDNs) are vulnerable to a type of attack called Random Label Manipulation (RLM). In this attack, bad actors can change or flip the labels in the training data, causing the ML system to make incorrect decisions about what is normal and what is dangerous. This tricks the NIDS into missing real threats or flagging harmless traffic as threats. Since SDNs are important for modern networks, it’s crucial to find ways to detect these attacks. The main challenge is to create a simple, reliable, and scalable method that can spot when these label-flipping attacks happen and keep the network secure.</a:t>
            </a:r>
            <a:endParaRPr lang="en-IN" sz="20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47E63F27-5851-7034-E26E-18C751FAFEE4}"/>
              </a:ext>
            </a:extLst>
          </p:cNvPr>
          <p:cNvSpPr>
            <a:spLocks noGrp="1"/>
          </p:cNvSpPr>
          <p:nvPr>
            <p:ph type="ftr" sz="quarter" idx="10"/>
          </p:nvPr>
        </p:nvSpPr>
        <p:spPr>
          <a:xfrm>
            <a:off x="3124200" y="6248400"/>
            <a:ext cx="2890838" cy="458788"/>
          </a:xfrm>
        </p:spPr>
        <p:txBody>
          <a:bodyPr/>
          <a:lstStyle/>
          <a:p>
            <a:pPr>
              <a:defRPr/>
            </a:pPr>
            <a:r>
              <a:rPr lang="en-US" dirty="0"/>
              <a:t>Department of IT</a:t>
            </a:r>
          </a:p>
        </p:txBody>
      </p:sp>
      <p:sp>
        <p:nvSpPr>
          <p:cNvPr id="2" name="TextBox 1">
            <a:extLst>
              <a:ext uri="{FF2B5EF4-FFF2-40B4-BE49-F238E27FC236}">
                <a16:creationId xmlns:a16="http://schemas.microsoft.com/office/drawing/2014/main" id="{BAB90181-69CC-8C2A-B496-BC093C2E5F5B}"/>
              </a:ext>
            </a:extLst>
          </p:cNvPr>
          <p:cNvSpPr txBox="1"/>
          <p:nvPr/>
        </p:nvSpPr>
        <p:spPr>
          <a:xfrm>
            <a:off x="1115616" y="548680"/>
            <a:ext cx="7200800" cy="584775"/>
          </a:xfrm>
          <a:prstGeom prst="rect">
            <a:avLst/>
          </a:prstGeom>
          <a:noFill/>
        </p:spPr>
        <p:txBody>
          <a:bodyPr wrap="square" rtlCol="0">
            <a:spAutoFit/>
          </a:bodyPr>
          <a:lstStyle/>
          <a:p>
            <a:r>
              <a:rPr lang="en-US" sz="3200" dirty="0">
                <a:latin typeface="+mj-lt"/>
              </a:rPr>
              <a:t>PROBLEM DEFINITON/STAEMENT</a:t>
            </a:r>
            <a:endParaRPr lang="en-IN" sz="3200" dirty="0">
              <a:latin typeface="+mj-lt"/>
            </a:endParaRPr>
          </a:p>
        </p:txBody>
      </p:sp>
    </p:spTree>
    <p:extLst>
      <p:ext uri="{BB962C8B-B14F-4D97-AF65-F5344CB8AC3E}">
        <p14:creationId xmlns:p14="http://schemas.microsoft.com/office/powerpoint/2010/main" val="4185159431"/>
      </p:ext>
    </p:extLst>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2ECE1D-6186-7889-CF5C-3696CBE0394C}"/>
              </a:ext>
            </a:extLst>
          </p:cNvPr>
          <p:cNvSpPr>
            <a:spLocks noGrp="1"/>
          </p:cNvSpPr>
          <p:nvPr>
            <p:ph idx="1"/>
          </p:nvPr>
        </p:nvSpPr>
        <p:spPr>
          <a:xfrm>
            <a:off x="2018594" y="188640"/>
            <a:ext cx="5073686" cy="541884"/>
          </a:xfrm>
        </p:spPr>
        <p:txBody>
          <a:bodyPr>
            <a:normAutofit/>
          </a:bodyPr>
          <a:lstStyle/>
          <a:p>
            <a:pPr marL="0" indent="0">
              <a:buNone/>
            </a:pPr>
            <a:r>
              <a:rPr lang="en-US" sz="2400" b="1" dirty="0"/>
              <a:t>Challenges with Traditional Models:</a:t>
            </a:r>
            <a:endParaRPr lang="en-US" sz="2400" dirty="0"/>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A6E34D68-7812-D61F-A050-EE85F840AC10}"/>
              </a:ext>
            </a:extLst>
          </p:cNvPr>
          <p:cNvSpPr>
            <a:spLocks noGrp="1"/>
          </p:cNvSpPr>
          <p:nvPr>
            <p:ph type="ftr" sz="quarter" idx="10"/>
          </p:nvPr>
        </p:nvSpPr>
        <p:spPr>
          <a:xfrm>
            <a:off x="3124200" y="6248400"/>
            <a:ext cx="2890838" cy="458788"/>
          </a:xfrm>
        </p:spPr>
        <p:txBody>
          <a:bodyPr/>
          <a:lstStyle/>
          <a:p>
            <a:pPr>
              <a:defRPr/>
            </a:pPr>
            <a:r>
              <a:rPr lang="en-US" dirty="0"/>
              <a:t>Department of IT</a:t>
            </a:r>
          </a:p>
        </p:txBody>
      </p:sp>
      <p:sp>
        <p:nvSpPr>
          <p:cNvPr id="2" name="TextBox 1">
            <a:extLst>
              <a:ext uri="{FF2B5EF4-FFF2-40B4-BE49-F238E27FC236}">
                <a16:creationId xmlns:a16="http://schemas.microsoft.com/office/drawing/2014/main" id="{267F660D-2BC8-042C-FC64-41110FD6EFCC}"/>
              </a:ext>
            </a:extLst>
          </p:cNvPr>
          <p:cNvSpPr txBox="1"/>
          <p:nvPr/>
        </p:nvSpPr>
        <p:spPr>
          <a:xfrm>
            <a:off x="897211" y="692696"/>
            <a:ext cx="7344816" cy="5632311"/>
          </a:xfrm>
          <a:prstGeom prst="rect">
            <a:avLst/>
          </a:prstGeom>
          <a:noFill/>
        </p:spPr>
        <p:txBody>
          <a:bodyPr wrap="square" rtlCol="0">
            <a:spAutoFit/>
          </a:bodyPr>
          <a:lstStyle/>
          <a:p>
            <a:pPr lvl="1"/>
            <a:r>
              <a:rPr lang="en-US" sz="1800" dirty="0">
                <a:latin typeface="Times New Roman" panose="02020603050405020304" pitchFamily="18" charset="0"/>
                <a:cs typeface="Times New Roman" panose="02020603050405020304" pitchFamily="18" charset="0"/>
              </a:rPr>
              <a:t>Easy to Fool: </a:t>
            </a:r>
            <a:r>
              <a:rPr lang="en-US" sz="1800" b="0" dirty="0">
                <a:latin typeface="Times New Roman" panose="02020603050405020304" pitchFamily="18" charset="0"/>
                <a:cs typeface="Times New Roman" panose="02020603050405020304" pitchFamily="18" charset="0"/>
              </a:rPr>
              <a:t>Attackers can change the labels in the training data (for example, marking some harmful traffic as benign).When the system learns from this false information, it thinks those harmful activities are okay — so it doesn’t notice or stop the attacks.</a:t>
            </a:r>
          </a:p>
          <a:p>
            <a:pPr lvl="1"/>
            <a:endParaRPr lang="en-US" sz="1800" b="0" dirty="0">
              <a:latin typeface="Times New Roman" panose="02020603050405020304" pitchFamily="18" charset="0"/>
              <a:cs typeface="Times New Roman" panose="02020603050405020304" pitchFamily="18" charset="0"/>
            </a:endParaRPr>
          </a:p>
          <a:p>
            <a:pPr lvl="1"/>
            <a:r>
              <a:rPr lang="en-US" sz="1800" dirty="0">
                <a:latin typeface="Times New Roman" panose="02020603050405020304" pitchFamily="18" charset="0"/>
                <a:cs typeface="Times New Roman" panose="02020603050405020304" pitchFamily="18" charset="0"/>
              </a:rPr>
              <a:t>Lack of Coordination: </a:t>
            </a:r>
            <a:r>
              <a:rPr lang="en-US" sz="1800" b="0" dirty="0">
                <a:latin typeface="Times New Roman" panose="02020603050405020304" pitchFamily="18" charset="0"/>
                <a:cs typeface="Times New Roman" panose="02020603050405020304" pitchFamily="18" charset="0"/>
              </a:rPr>
              <a:t>In traditional setups, each network controller works independently without sharing information. This means if an attacker compromises one controller, others might not notice, making it easier for the attacker to hide their malicious actions across the network.</a:t>
            </a:r>
          </a:p>
          <a:p>
            <a:pPr lvl="1"/>
            <a:endParaRPr lang="en-US" sz="1800" b="0" dirty="0">
              <a:latin typeface="Times New Roman" panose="02020603050405020304" pitchFamily="18" charset="0"/>
              <a:cs typeface="Times New Roman" panose="02020603050405020304" pitchFamily="18" charset="0"/>
            </a:endParaRPr>
          </a:p>
          <a:p>
            <a:pPr lvl="1"/>
            <a:r>
              <a:rPr lang="en-US" sz="1800" dirty="0">
                <a:latin typeface="Times New Roman" panose="02020603050405020304" pitchFamily="18" charset="0"/>
                <a:cs typeface="Times New Roman" panose="02020603050405020304" pitchFamily="18" charset="0"/>
              </a:rPr>
              <a:t>Resource Limits: </a:t>
            </a:r>
            <a:r>
              <a:rPr lang="en-US" sz="1800" b="0" dirty="0">
                <a:latin typeface="Times New Roman" panose="02020603050405020304" pitchFamily="18" charset="0"/>
                <a:cs typeface="Times New Roman" panose="02020603050405020304" pitchFamily="18" charset="0"/>
              </a:rPr>
              <a:t>Training and updating the machine learning (ML) models takes a lot of computer power and time. Because there are limited resources, it’s hard to quickly update the models whenever new threats appear. During this delay, the network can be vulnerable and unprotected against new or changing attacks.</a:t>
            </a:r>
          </a:p>
          <a:p>
            <a:pPr lvl="1"/>
            <a:endParaRPr lang="en-US" sz="1800" b="0" dirty="0">
              <a:latin typeface="Times New Roman" panose="02020603050405020304" pitchFamily="18" charset="0"/>
              <a:cs typeface="Times New Roman" panose="02020603050405020304" pitchFamily="18" charset="0"/>
            </a:endParaRPr>
          </a:p>
          <a:p>
            <a:pPr lvl="1"/>
            <a:r>
              <a:rPr lang="en-US" sz="1800" dirty="0">
                <a:latin typeface="Times New Roman" panose="02020603050405020304" pitchFamily="18" charset="0"/>
                <a:cs typeface="Times New Roman" panose="02020603050405020304" pitchFamily="18" charset="0"/>
              </a:rPr>
              <a:t>Detection Gaps: </a:t>
            </a:r>
            <a:r>
              <a:rPr lang="en-US" sz="1800" b="0" dirty="0">
                <a:latin typeface="Times New Roman" panose="02020603050405020304" pitchFamily="18" charset="0"/>
                <a:cs typeface="Times New Roman" panose="02020603050405020304" pitchFamily="18" charset="0"/>
              </a:rPr>
              <a:t>Traditional detection methods may not catch new or smart attack tricks because they weren't designed for such clever strategies. So, some attacks can go unnoticed, especially those that try to hide or confuse the system on purpose.</a:t>
            </a:r>
            <a:endParaRPr lang="en-IN" sz="18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5889971"/>
      </p:ext>
    </p:extLst>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99C48-452C-0B8D-6E56-2666FB97005F}"/>
              </a:ext>
            </a:extLst>
          </p:cNvPr>
          <p:cNvSpPr>
            <a:spLocks noGrp="1"/>
          </p:cNvSpPr>
          <p:nvPr>
            <p:ph type="title"/>
          </p:nvPr>
        </p:nvSpPr>
        <p:spPr>
          <a:xfrm>
            <a:off x="971600" y="152400"/>
            <a:ext cx="7486600" cy="756320"/>
          </a:xfrm>
        </p:spPr>
        <p:txBody>
          <a:bodyPr/>
          <a:lstStyle/>
          <a:p>
            <a:r>
              <a:rPr lang="en-US" dirty="0"/>
              <a:t>SOFTWARE REQUIREMENT SPECIFICATION(SRS)</a:t>
            </a:r>
            <a:endParaRPr lang="en-IN" dirty="0"/>
          </a:p>
        </p:txBody>
      </p:sp>
      <p:sp>
        <p:nvSpPr>
          <p:cNvPr id="3" name="Content Placeholder 2">
            <a:extLst>
              <a:ext uri="{FF2B5EF4-FFF2-40B4-BE49-F238E27FC236}">
                <a16:creationId xmlns:a16="http://schemas.microsoft.com/office/drawing/2014/main" id="{9E61AFD2-C792-6EB5-5F78-D378E14CF112}"/>
              </a:ext>
            </a:extLst>
          </p:cNvPr>
          <p:cNvSpPr>
            <a:spLocks noGrp="1"/>
          </p:cNvSpPr>
          <p:nvPr>
            <p:ph idx="1"/>
          </p:nvPr>
        </p:nvSpPr>
        <p:spPr>
          <a:xfrm>
            <a:off x="1043608" y="908720"/>
            <a:ext cx="7414592" cy="5187280"/>
          </a:xfrm>
        </p:spPr>
        <p:txBody>
          <a:bodyPr/>
          <a:lstStyle/>
          <a:p>
            <a:pPr marL="0" indent="0">
              <a:buNone/>
            </a:pPr>
            <a:br>
              <a:rPr lang="en-US" sz="2400" dirty="0"/>
            </a:br>
            <a:endParaRPr lang="en-US" sz="2400" dirty="0"/>
          </a:p>
          <a:p>
            <a:pPr marL="0" indent="0">
              <a:buNone/>
            </a:pPr>
            <a:endParaRPr lang="en-IN" sz="2400" dirty="0">
              <a:solidFill>
                <a:schemeClr val="accent2"/>
              </a:solidFill>
              <a:hlinkClick r:id="rId2" action="ppaction://hlinkfile">
                <a:extLst>
                  <a:ext uri="{A12FA001-AC4F-418D-AE19-62706E023703}">
                    <ahyp:hlinkClr xmlns:ahyp="http://schemas.microsoft.com/office/drawing/2018/hyperlinkcolor" val="tx"/>
                  </a:ext>
                </a:extLst>
              </a:hlinkClick>
            </a:endParaRPr>
          </a:p>
          <a:p>
            <a:pPr marL="0" indent="0">
              <a:buNone/>
            </a:pPr>
            <a:endParaRPr lang="en-IN" sz="2400" dirty="0">
              <a:solidFill>
                <a:schemeClr val="accent2"/>
              </a:solidFill>
              <a:hlinkClick r:id="rId2" action="ppaction://hlinkfile">
                <a:extLst>
                  <a:ext uri="{A12FA001-AC4F-418D-AE19-62706E023703}">
                    <ahyp:hlinkClr xmlns:ahyp="http://schemas.microsoft.com/office/drawing/2018/hyperlinkcolor" val="tx"/>
                  </a:ext>
                </a:extLst>
              </a:hlinkClick>
            </a:endParaRPr>
          </a:p>
          <a:p>
            <a:pPr marL="0" indent="0" algn="ctr">
              <a:buNone/>
            </a:pPr>
            <a:r>
              <a:rPr lang="en-IN" sz="4400" dirty="0">
                <a:solidFill>
                  <a:schemeClr val="accent2"/>
                </a:solidFill>
                <a:hlinkClick r:id="rId2" action="ppaction://hlinkfile">
                  <a:extLst>
                    <a:ext uri="{A12FA001-AC4F-418D-AE19-62706E023703}">
                      <ahyp:hlinkClr xmlns:ahyp="http://schemas.microsoft.com/office/drawing/2018/hyperlinkcolor" val="tx"/>
                    </a:ext>
                  </a:extLst>
                </a:hlinkClick>
              </a:rPr>
              <a:t>SRS.pdf.docx</a:t>
            </a:r>
            <a:endParaRPr lang="en-IN" sz="4400" dirty="0">
              <a:solidFill>
                <a:schemeClr val="accent2"/>
              </a:solidFill>
            </a:endParaRPr>
          </a:p>
        </p:txBody>
      </p:sp>
      <p:sp>
        <p:nvSpPr>
          <p:cNvPr id="4" name="Footer Placeholder 3">
            <a:extLst>
              <a:ext uri="{FF2B5EF4-FFF2-40B4-BE49-F238E27FC236}">
                <a16:creationId xmlns:a16="http://schemas.microsoft.com/office/drawing/2014/main" id="{B36FB873-0388-A938-A1A8-A6A40FFD347B}"/>
              </a:ext>
            </a:extLst>
          </p:cNvPr>
          <p:cNvSpPr>
            <a:spLocks noGrp="1"/>
          </p:cNvSpPr>
          <p:nvPr>
            <p:ph type="ftr" sz="quarter" idx="10"/>
          </p:nvPr>
        </p:nvSpPr>
        <p:spPr/>
        <p:txBody>
          <a:bodyPr/>
          <a:lstStyle/>
          <a:p>
            <a:pPr>
              <a:defRPr/>
            </a:pPr>
            <a:r>
              <a:rPr lang="en-US"/>
              <a:t>Department of IT</a:t>
            </a:r>
            <a:endParaRPr lang="en-US" dirty="0"/>
          </a:p>
        </p:txBody>
      </p:sp>
    </p:spTree>
    <p:extLst>
      <p:ext uri="{BB962C8B-B14F-4D97-AF65-F5344CB8AC3E}">
        <p14:creationId xmlns:p14="http://schemas.microsoft.com/office/powerpoint/2010/main" val="1888419914"/>
      </p:ext>
    </p:extLst>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2830CD8-9C36-1658-6B86-46944615D0A3}"/>
              </a:ext>
            </a:extLst>
          </p:cNvPr>
          <p:cNvSpPr>
            <a:spLocks noGrp="1"/>
          </p:cNvSpPr>
          <p:nvPr>
            <p:ph type="ftr" sz="quarter" idx="10"/>
          </p:nvPr>
        </p:nvSpPr>
        <p:spPr/>
        <p:txBody>
          <a:bodyPr/>
          <a:lstStyle/>
          <a:p>
            <a:pPr>
              <a:defRPr/>
            </a:pPr>
            <a:r>
              <a:rPr lang="en-US"/>
              <a:t>Department of IT</a:t>
            </a:r>
            <a:endParaRPr lang="en-US" dirty="0"/>
          </a:p>
        </p:txBody>
      </p:sp>
      <p:pic>
        <p:nvPicPr>
          <p:cNvPr id="4" name="Picture 3">
            <a:extLst>
              <a:ext uri="{FF2B5EF4-FFF2-40B4-BE49-F238E27FC236}">
                <a16:creationId xmlns:a16="http://schemas.microsoft.com/office/drawing/2014/main" id="{2A47AA5A-FB16-9440-2CD2-2E18C3A11061}"/>
              </a:ext>
            </a:extLst>
          </p:cNvPr>
          <p:cNvPicPr>
            <a:picLocks noChangeAspect="1"/>
          </p:cNvPicPr>
          <p:nvPr/>
        </p:nvPicPr>
        <p:blipFill>
          <a:blip r:embed="rId2"/>
          <a:stretch>
            <a:fillRect/>
          </a:stretch>
        </p:blipFill>
        <p:spPr>
          <a:xfrm>
            <a:off x="755576" y="817375"/>
            <a:ext cx="8287776" cy="5460696"/>
          </a:xfrm>
          <a:prstGeom prst="rect">
            <a:avLst/>
          </a:prstGeom>
        </p:spPr>
      </p:pic>
      <p:sp>
        <p:nvSpPr>
          <p:cNvPr id="5" name="TextBox 4">
            <a:extLst>
              <a:ext uri="{FF2B5EF4-FFF2-40B4-BE49-F238E27FC236}">
                <a16:creationId xmlns:a16="http://schemas.microsoft.com/office/drawing/2014/main" id="{7D2B760E-96DA-4862-1411-30A66D5D0214}"/>
              </a:ext>
            </a:extLst>
          </p:cNvPr>
          <p:cNvSpPr txBox="1"/>
          <p:nvPr/>
        </p:nvSpPr>
        <p:spPr>
          <a:xfrm>
            <a:off x="1259632" y="152400"/>
            <a:ext cx="2304256" cy="461665"/>
          </a:xfrm>
          <a:prstGeom prst="rect">
            <a:avLst/>
          </a:prstGeom>
          <a:noFill/>
        </p:spPr>
        <p:txBody>
          <a:bodyPr wrap="square" rtlCol="0">
            <a:spAutoFit/>
          </a:bodyPr>
          <a:lstStyle/>
          <a:p>
            <a:r>
              <a:rPr lang="en-US" sz="2400" dirty="0">
                <a:latin typeface="+mj-lt"/>
              </a:rPr>
              <a:t>ER DIAGRAM</a:t>
            </a:r>
          </a:p>
        </p:txBody>
      </p:sp>
    </p:spTree>
    <p:extLst>
      <p:ext uri="{BB962C8B-B14F-4D97-AF65-F5344CB8AC3E}">
        <p14:creationId xmlns:p14="http://schemas.microsoft.com/office/powerpoint/2010/main" val="4198105546"/>
      </p:ext>
    </p:extLst>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0902A88-47FB-6BE1-3180-8396DE591406}"/>
              </a:ext>
            </a:extLst>
          </p:cNvPr>
          <p:cNvSpPr>
            <a:spLocks noGrp="1"/>
          </p:cNvSpPr>
          <p:nvPr>
            <p:ph type="ftr" sz="quarter" idx="10"/>
          </p:nvPr>
        </p:nvSpPr>
        <p:spPr/>
        <p:txBody>
          <a:bodyPr/>
          <a:lstStyle/>
          <a:p>
            <a:pPr>
              <a:defRPr/>
            </a:pPr>
            <a:r>
              <a:rPr lang="en-US"/>
              <a:t>Department of IT</a:t>
            </a:r>
            <a:endParaRPr lang="en-US" dirty="0"/>
          </a:p>
        </p:txBody>
      </p:sp>
      <p:pic>
        <p:nvPicPr>
          <p:cNvPr id="4" name="Picture 3">
            <a:extLst>
              <a:ext uri="{FF2B5EF4-FFF2-40B4-BE49-F238E27FC236}">
                <a16:creationId xmlns:a16="http://schemas.microsoft.com/office/drawing/2014/main" id="{1994EB44-0B2C-9252-9AF9-83C70B6692E3}"/>
              </a:ext>
            </a:extLst>
          </p:cNvPr>
          <p:cNvPicPr>
            <a:picLocks noChangeAspect="1"/>
          </p:cNvPicPr>
          <p:nvPr/>
        </p:nvPicPr>
        <p:blipFill>
          <a:blip r:embed="rId2"/>
          <a:stretch>
            <a:fillRect/>
          </a:stretch>
        </p:blipFill>
        <p:spPr>
          <a:xfrm>
            <a:off x="755576" y="771001"/>
            <a:ext cx="8290869" cy="5469432"/>
          </a:xfrm>
          <a:prstGeom prst="rect">
            <a:avLst/>
          </a:prstGeom>
          <a:ln>
            <a:solidFill>
              <a:schemeClr val="tx2"/>
            </a:solidFill>
            <a:prstDash val="solid"/>
          </a:ln>
        </p:spPr>
      </p:pic>
      <p:sp>
        <p:nvSpPr>
          <p:cNvPr id="5" name="TextBox 4">
            <a:extLst>
              <a:ext uri="{FF2B5EF4-FFF2-40B4-BE49-F238E27FC236}">
                <a16:creationId xmlns:a16="http://schemas.microsoft.com/office/drawing/2014/main" id="{9466E612-EC31-DCEC-0D77-8FB31DAFABC6}"/>
              </a:ext>
            </a:extLst>
          </p:cNvPr>
          <p:cNvSpPr txBox="1"/>
          <p:nvPr/>
        </p:nvSpPr>
        <p:spPr>
          <a:xfrm>
            <a:off x="1187624" y="152401"/>
            <a:ext cx="3384376" cy="400110"/>
          </a:xfrm>
          <a:prstGeom prst="rect">
            <a:avLst/>
          </a:prstGeom>
          <a:noFill/>
        </p:spPr>
        <p:txBody>
          <a:bodyPr wrap="square" rtlCol="0">
            <a:spAutoFit/>
          </a:bodyPr>
          <a:lstStyle/>
          <a:p>
            <a:r>
              <a:rPr lang="en-US" sz="2000" dirty="0">
                <a:latin typeface="+mn-lt"/>
              </a:rPr>
              <a:t>SCHEMA DIAGRAM</a:t>
            </a:r>
            <a:endParaRPr lang="en-IN" sz="2000" dirty="0">
              <a:latin typeface="+mn-lt"/>
            </a:endParaRPr>
          </a:p>
        </p:txBody>
      </p:sp>
    </p:spTree>
    <p:extLst>
      <p:ext uri="{BB962C8B-B14F-4D97-AF65-F5344CB8AC3E}">
        <p14:creationId xmlns:p14="http://schemas.microsoft.com/office/powerpoint/2010/main" val="3423111734"/>
      </p:ext>
    </p:extLst>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F8A45-76B3-86A2-098A-1C222BCBE70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1375E0-2F40-09D8-573D-6470F11D21B2}"/>
              </a:ext>
            </a:extLst>
          </p:cNvPr>
          <p:cNvSpPr>
            <a:spLocks noGrp="1"/>
          </p:cNvSpPr>
          <p:nvPr>
            <p:ph idx="1"/>
          </p:nvPr>
        </p:nvSpPr>
        <p:spPr>
          <a:xfrm>
            <a:off x="899592" y="109660"/>
            <a:ext cx="7920880" cy="576063"/>
          </a:xfrm>
        </p:spPr>
        <p:txBody>
          <a:bodyPr>
            <a:normAutofit/>
          </a:bodyPr>
          <a:lstStyle/>
          <a:p>
            <a:pPr marL="0" indent="0">
              <a:buNone/>
            </a:pPr>
            <a:r>
              <a:rPr lang="en-US" sz="2400" b="1" dirty="0"/>
              <a:t>PROPOSED SYSTEM ARCHITECTURE:</a:t>
            </a:r>
            <a:endParaRPr lang="en-US" sz="2400" dirty="0"/>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CD88F431-BA58-0ACF-CBE7-32058FE69F3E}"/>
              </a:ext>
            </a:extLst>
          </p:cNvPr>
          <p:cNvSpPr>
            <a:spLocks noGrp="1"/>
          </p:cNvSpPr>
          <p:nvPr>
            <p:ph type="ftr" sz="quarter" idx="10"/>
          </p:nvPr>
        </p:nvSpPr>
        <p:spPr>
          <a:xfrm>
            <a:off x="3124200" y="6248400"/>
            <a:ext cx="2890838" cy="458788"/>
          </a:xfrm>
        </p:spPr>
        <p:txBody>
          <a:bodyPr/>
          <a:lstStyle/>
          <a:p>
            <a:pPr>
              <a:defRPr/>
            </a:pPr>
            <a:r>
              <a:rPr lang="en-US" dirty="0"/>
              <a:t>Department of IT</a:t>
            </a:r>
          </a:p>
        </p:txBody>
      </p:sp>
      <p:graphicFrame>
        <p:nvGraphicFramePr>
          <p:cNvPr id="2" name="Diagram 1">
            <a:extLst>
              <a:ext uri="{FF2B5EF4-FFF2-40B4-BE49-F238E27FC236}">
                <a16:creationId xmlns:a16="http://schemas.microsoft.com/office/drawing/2014/main" id="{223ED0C2-0C2A-F62D-0E74-6F360AF3B95D}"/>
              </a:ext>
            </a:extLst>
          </p:cNvPr>
          <p:cNvGraphicFramePr/>
          <p:nvPr>
            <p:extLst>
              <p:ext uri="{D42A27DB-BD31-4B8C-83A1-F6EECF244321}">
                <p14:modId xmlns:p14="http://schemas.microsoft.com/office/powerpoint/2010/main" val="3781113010"/>
              </p:ext>
            </p:extLst>
          </p:nvPr>
        </p:nvGraphicFramePr>
        <p:xfrm>
          <a:off x="2157351" y="548680"/>
          <a:ext cx="4824536" cy="56593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36132772"/>
      </p:ext>
    </p:extLst>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17818-92F6-FAD6-EDF3-A245EF81EAD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F2710E-5159-A429-4EAB-5993A8FD87EC}"/>
              </a:ext>
            </a:extLst>
          </p:cNvPr>
          <p:cNvSpPr>
            <a:spLocks noGrp="1"/>
          </p:cNvSpPr>
          <p:nvPr>
            <p:ph idx="1"/>
          </p:nvPr>
        </p:nvSpPr>
        <p:spPr>
          <a:xfrm>
            <a:off x="899592" y="1052737"/>
            <a:ext cx="7992888" cy="4925278"/>
          </a:xfrm>
        </p:spPr>
        <p:txBody>
          <a:bodyPr>
            <a:normAutofit lnSpcReduction="10000"/>
          </a:bodyPr>
          <a:lstStyle/>
          <a:p>
            <a:pPr marL="0" indent="0">
              <a:buNone/>
            </a:pPr>
            <a:r>
              <a:rPr lang="en-US" sz="2400" b="1" dirty="0">
                <a:latin typeface="Times New Roman" panose="02020603050405020304" pitchFamily="18" charset="0"/>
                <a:cs typeface="Times New Roman" panose="02020603050405020304" pitchFamily="18" charset="0"/>
              </a:rPr>
              <a:t>DESCRIPTION</a:t>
            </a:r>
          </a:p>
          <a:p>
            <a:r>
              <a:rPr lang="en-US" sz="2400" b="1" dirty="0"/>
              <a:t>MAD Pre-Analysis</a:t>
            </a:r>
            <a:r>
              <a:rPr lang="en-US" sz="2400" dirty="0"/>
              <a:t>: Initial screening layer that estimates compromise level of incoming model updates using lightweight statistical analysis</a:t>
            </a:r>
          </a:p>
          <a:p>
            <a:r>
              <a:rPr lang="en-US" sz="2400" b="1" dirty="0"/>
              <a:t>Adaptive Detection</a:t>
            </a:r>
            <a:r>
              <a:rPr lang="en-US" sz="2400" dirty="0"/>
              <a:t>: Implements IQR (Interquartile Range) or MAD (Median Absolute Deviation) methods to identify outlier models that deviate from normal patterns</a:t>
            </a:r>
          </a:p>
          <a:p>
            <a:r>
              <a:rPr lang="en-US" sz="2400" b="1" dirty="0"/>
              <a:t>Key Benefits:</a:t>
            </a:r>
            <a:endParaRPr lang="en-US" sz="2400" dirty="0"/>
          </a:p>
          <a:p>
            <a:r>
              <a:rPr lang="en-US" sz="2400" dirty="0"/>
              <a:t>Robust statistical outlier detection even when majority of updates are normal</a:t>
            </a:r>
          </a:p>
          <a:p>
            <a:r>
              <a:rPr lang="en-US" sz="2400" dirty="0"/>
              <a:t>Adaptive approach can switch between detection methods based on threat landscape</a:t>
            </a:r>
          </a:p>
          <a:p>
            <a:r>
              <a:rPr lang="en-US" sz="2400" dirty="0"/>
              <a:t>Acts as additional security filter before model aggregation</a:t>
            </a: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6B8CB9CA-5184-4301-559C-96EEA65987D0}"/>
              </a:ext>
            </a:extLst>
          </p:cNvPr>
          <p:cNvSpPr>
            <a:spLocks noGrp="1"/>
          </p:cNvSpPr>
          <p:nvPr>
            <p:ph type="ftr" sz="quarter" idx="10"/>
          </p:nvPr>
        </p:nvSpPr>
        <p:spPr>
          <a:xfrm>
            <a:off x="3124200" y="6248400"/>
            <a:ext cx="2890838" cy="458788"/>
          </a:xfrm>
        </p:spPr>
        <p:txBody>
          <a:bodyPr/>
          <a:lstStyle/>
          <a:p>
            <a:pPr>
              <a:defRPr/>
            </a:pPr>
            <a:r>
              <a:rPr lang="en-US" dirty="0"/>
              <a:t>Department of IT</a:t>
            </a:r>
          </a:p>
        </p:txBody>
      </p:sp>
    </p:spTree>
    <p:extLst>
      <p:ext uri="{BB962C8B-B14F-4D97-AF65-F5344CB8AC3E}">
        <p14:creationId xmlns:p14="http://schemas.microsoft.com/office/powerpoint/2010/main" val="3106750100"/>
      </p:ext>
    </p:extLst>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3B425-539B-0F71-64C1-27C341F9D6AC}"/>
              </a:ext>
            </a:extLst>
          </p:cNvPr>
          <p:cNvSpPr>
            <a:spLocks noGrp="1"/>
          </p:cNvSpPr>
          <p:nvPr>
            <p:ph type="title"/>
          </p:nvPr>
        </p:nvSpPr>
        <p:spPr>
          <a:xfrm>
            <a:off x="685800" y="44624"/>
            <a:ext cx="7772400" cy="72008"/>
          </a:xfrm>
        </p:spPr>
        <p:txBody>
          <a:bodyPr/>
          <a:lstStyle/>
          <a:p>
            <a:endParaRPr lang="en-IN" dirty="0"/>
          </a:p>
        </p:txBody>
      </p:sp>
      <p:sp>
        <p:nvSpPr>
          <p:cNvPr id="3" name="Content Placeholder 2">
            <a:extLst>
              <a:ext uri="{FF2B5EF4-FFF2-40B4-BE49-F238E27FC236}">
                <a16:creationId xmlns:a16="http://schemas.microsoft.com/office/drawing/2014/main" id="{4E8AEC8D-92BA-BAA8-11B9-C96B8BB35955}"/>
              </a:ext>
            </a:extLst>
          </p:cNvPr>
          <p:cNvSpPr>
            <a:spLocks noGrp="1"/>
          </p:cNvSpPr>
          <p:nvPr>
            <p:ph idx="1"/>
          </p:nvPr>
        </p:nvSpPr>
        <p:spPr>
          <a:xfrm>
            <a:off x="685800" y="152400"/>
            <a:ext cx="7772400" cy="5943600"/>
          </a:xfrm>
        </p:spPr>
        <p:txBody>
          <a:bodyPr/>
          <a:lstStyle/>
          <a:p>
            <a:r>
              <a:rPr lang="en-IN" sz="2400" b="1" dirty="0"/>
              <a:t>Planned DOS Attack Testing:</a:t>
            </a:r>
            <a:endParaRPr lang="en-IN" sz="2400" dirty="0"/>
          </a:p>
          <a:p>
            <a:r>
              <a:rPr lang="en-IN" sz="2400" b="1" dirty="0"/>
              <a:t>Volume-based DOS</a:t>
            </a:r>
            <a:r>
              <a:rPr lang="en-IN" sz="2400" dirty="0"/>
              <a:t>: Flood system with numerous malicious model updates to test detection capacity</a:t>
            </a:r>
          </a:p>
          <a:p>
            <a:r>
              <a:rPr lang="en-IN" sz="2400" b="1" dirty="0"/>
              <a:t>Computational DOS</a:t>
            </a:r>
            <a:r>
              <a:rPr lang="en-IN" sz="2400" dirty="0"/>
              <a:t>: Deploy resource-intensive malicious models to test system stability</a:t>
            </a:r>
          </a:p>
          <a:p>
            <a:r>
              <a:rPr lang="en-IN" sz="2400" b="1" dirty="0"/>
              <a:t>Memory Exhaustion</a:t>
            </a:r>
            <a:r>
              <a:rPr lang="en-IN" sz="2400" dirty="0"/>
              <a:t>: Large model updates designed to overwhelm system resources</a:t>
            </a:r>
          </a:p>
          <a:p>
            <a:r>
              <a:rPr lang="en-IN" sz="2400" b="1" dirty="0"/>
              <a:t>Expected MAD System Response:</a:t>
            </a:r>
            <a:endParaRPr lang="en-IN" sz="2400" dirty="0"/>
          </a:p>
          <a:p>
            <a:r>
              <a:rPr lang="en-IN" sz="2400" dirty="0"/>
              <a:t>Quick identification and filtering of anomalous updates before core processing</a:t>
            </a:r>
          </a:p>
          <a:p>
            <a:r>
              <a:rPr lang="en-IN" sz="2400" dirty="0"/>
              <a:t>Maintain federated learning functionality under attack conditions</a:t>
            </a:r>
          </a:p>
          <a:p>
            <a:r>
              <a:rPr lang="en-IN" sz="2400" dirty="0"/>
              <a:t>Prevent malicious models from affecting final global model quality</a:t>
            </a:r>
          </a:p>
          <a:p>
            <a:endParaRPr lang="en-IN" sz="2400" dirty="0"/>
          </a:p>
        </p:txBody>
      </p:sp>
      <p:sp>
        <p:nvSpPr>
          <p:cNvPr id="4" name="Footer Placeholder 3">
            <a:extLst>
              <a:ext uri="{FF2B5EF4-FFF2-40B4-BE49-F238E27FC236}">
                <a16:creationId xmlns:a16="http://schemas.microsoft.com/office/drawing/2014/main" id="{DABAF182-37E8-B1BE-DCF4-F81F0690DB0A}"/>
              </a:ext>
            </a:extLst>
          </p:cNvPr>
          <p:cNvSpPr>
            <a:spLocks noGrp="1"/>
          </p:cNvSpPr>
          <p:nvPr>
            <p:ph type="ftr" sz="quarter" idx="10"/>
          </p:nvPr>
        </p:nvSpPr>
        <p:spPr/>
        <p:txBody>
          <a:bodyPr/>
          <a:lstStyle/>
          <a:p>
            <a:pPr>
              <a:defRPr/>
            </a:pPr>
            <a:r>
              <a:rPr lang="en-US"/>
              <a:t>Department of IT</a:t>
            </a:r>
            <a:endParaRPr lang="en-US" dirty="0"/>
          </a:p>
        </p:txBody>
      </p:sp>
    </p:spTree>
    <p:extLst>
      <p:ext uri="{BB962C8B-B14F-4D97-AF65-F5344CB8AC3E}">
        <p14:creationId xmlns:p14="http://schemas.microsoft.com/office/powerpoint/2010/main" val="2137500044"/>
      </p:ext>
    </p:extLst>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BE37A-3EF3-4E9F-3982-23CE186BBE3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821145-F1C8-F891-BDF6-5F5990422B36}"/>
              </a:ext>
            </a:extLst>
          </p:cNvPr>
          <p:cNvSpPr>
            <a:spLocks noGrp="1"/>
          </p:cNvSpPr>
          <p:nvPr>
            <p:ph idx="1"/>
          </p:nvPr>
        </p:nvSpPr>
        <p:spPr>
          <a:xfrm>
            <a:off x="971600" y="404664"/>
            <a:ext cx="7992888" cy="6048672"/>
          </a:xfrm>
        </p:spPr>
        <p:txBody>
          <a:bodyPr>
            <a:normAutofit lnSpcReduction="10000"/>
          </a:bodyPr>
          <a:lstStyle/>
          <a:p>
            <a:pPr marL="0" indent="0">
              <a:buNone/>
            </a:pPr>
            <a:r>
              <a:rPr lang="en-IN" sz="2400" b="1" dirty="0">
                <a:latin typeface="Times New Roman" panose="02020603050405020304" pitchFamily="18" charset="0"/>
                <a:cs typeface="Times New Roman" panose="02020603050405020304" pitchFamily="18" charset="0"/>
              </a:rPr>
              <a:t>                                 Algorithm used: </a:t>
            </a:r>
          </a:p>
          <a:p>
            <a:pPr marL="0" indent="0">
              <a:buNone/>
            </a:pPr>
            <a:r>
              <a:rPr lang="en-US" sz="2000" b="1" dirty="0">
                <a:latin typeface="Times New Roman" panose="02020603050405020304" pitchFamily="18" charset="0"/>
                <a:cs typeface="Times New Roman" panose="02020603050405020304" pitchFamily="18" charset="0"/>
              </a:rPr>
              <a:t>Random Forest </a:t>
            </a:r>
            <a:r>
              <a:rPr lang="en-US" sz="2000" dirty="0">
                <a:latin typeface="Times New Roman" panose="02020603050405020304" pitchFamily="18" charset="0"/>
                <a:cs typeface="Times New Roman" panose="02020603050405020304" pitchFamily="18" charset="0"/>
              </a:rPr>
              <a:t>is an ensemble machine learning algorithm commonly used for classification and regression tasks. It builds multiple decision trees during training and combines their outputs to produce a final prediction, which improves accuracy and reduces overfitting.</a:t>
            </a:r>
          </a:p>
          <a:p>
            <a:pPr marL="0" indent="0">
              <a:buNone/>
            </a:pPr>
            <a:r>
              <a:rPr lang="en-US" sz="2000" b="1" dirty="0">
                <a:latin typeface="Times New Roman" panose="02020603050405020304" pitchFamily="18" charset="0"/>
                <a:cs typeface="Times New Roman" panose="02020603050405020304" pitchFamily="18" charset="0"/>
              </a:rPr>
              <a:t>How Random Forest Works:</a:t>
            </a:r>
          </a:p>
          <a:p>
            <a:pPr marL="457200" indent="-457200">
              <a:buAutoNum type="arabicPeriod"/>
            </a:pPr>
            <a:r>
              <a:rPr lang="en-US" sz="2000" dirty="0">
                <a:latin typeface="Times New Roman" panose="02020603050405020304" pitchFamily="18" charset="0"/>
                <a:cs typeface="Times New Roman" panose="02020603050405020304" pitchFamily="18" charset="0"/>
              </a:rPr>
              <a:t>Bootstrapping (Sampling): Multiple subsets of the training data are created by sampling with replacement.</a:t>
            </a:r>
          </a:p>
          <a:p>
            <a:pPr marL="457200" indent="-457200">
              <a:buAutoNum type="arabicPeriod"/>
            </a:pPr>
            <a:r>
              <a:rPr lang="en-US" sz="2000" dirty="0">
                <a:latin typeface="Times New Roman" panose="02020603050405020304" pitchFamily="18" charset="0"/>
                <a:cs typeface="Times New Roman" panose="02020603050405020304" pitchFamily="18" charset="0"/>
              </a:rPr>
              <a:t>Building Decision Trees: For each subset, a decision tree is trained. When splitting nodes, only a random subset of features is considered, adding diversity to the trees.</a:t>
            </a:r>
          </a:p>
          <a:p>
            <a:pPr marL="457200" indent="-457200">
              <a:buAutoNum type="arabicPeriod"/>
            </a:pPr>
            <a:r>
              <a:rPr lang="en-US" sz="2000" dirty="0">
                <a:latin typeface="Times New Roman" panose="02020603050405020304" pitchFamily="18" charset="0"/>
                <a:cs typeface="Times New Roman" panose="02020603050405020304" pitchFamily="18" charset="0"/>
              </a:rPr>
              <a:t>Aggregation: For classification tasks, each tree votes for a class label, and the majority vote becomes the final prediction. For regression, the average of all tree outputs is used.</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In this paper, RF is used because of its effectiveness, robustness, and widespread acceptance in SDN security research, making it suitable for detecting malicious activities in network data</a:t>
            </a:r>
            <a:endParaRPr lang="en-IN" sz="20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F2061C4E-AC7C-82CC-EC55-8542891C22EF}"/>
              </a:ext>
            </a:extLst>
          </p:cNvPr>
          <p:cNvSpPr>
            <a:spLocks noGrp="1"/>
          </p:cNvSpPr>
          <p:nvPr>
            <p:ph type="ftr" sz="quarter" idx="10"/>
          </p:nvPr>
        </p:nvSpPr>
        <p:spPr>
          <a:xfrm>
            <a:off x="3124200" y="6248400"/>
            <a:ext cx="2890838" cy="458788"/>
          </a:xfrm>
        </p:spPr>
        <p:txBody>
          <a:bodyPr/>
          <a:lstStyle/>
          <a:p>
            <a:pPr>
              <a:defRPr/>
            </a:pPr>
            <a:r>
              <a:rPr lang="en-US" dirty="0"/>
              <a:t>Department of IT</a:t>
            </a:r>
          </a:p>
        </p:txBody>
      </p:sp>
    </p:spTree>
    <p:extLst>
      <p:ext uri="{BB962C8B-B14F-4D97-AF65-F5344CB8AC3E}">
        <p14:creationId xmlns:p14="http://schemas.microsoft.com/office/powerpoint/2010/main" val="3829691070"/>
      </p:ext>
    </p:extLst>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6E7F8-3626-BD1D-1795-72EA6EE9B8ED}"/>
              </a:ext>
            </a:extLst>
          </p:cNvPr>
          <p:cNvSpPr>
            <a:spLocks noGrp="1"/>
          </p:cNvSpPr>
          <p:nvPr>
            <p:ph type="title"/>
          </p:nvPr>
        </p:nvSpPr>
        <p:spPr>
          <a:xfrm>
            <a:off x="971600" y="609600"/>
            <a:ext cx="7486600" cy="515144"/>
          </a:xfrm>
        </p:spPr>
        <p:txBody>
          <a:bodyPr/>
          <a:lstStyle/>
          <a:p>
            <a:r>
              <a:rPr lang="en-US" dirty="0"/>
              <a:t>DATASET FOR THIS PROJECT</a:t>
            </a:r>
            <a:endParaRPr lang="en-IN" dirty="0"/>
          </a:p>
        </p:txBody>
      </p:sp>
      <p:sp>
        <p:nvSpPr>
          <p:cNvPr id="3" name="Content Placeholder 2">
            <a:extLst>
              <a:ext uri="{FF2B5EF4-FFF2-40B4-BE49-F238E27FC236}">
                <a16:creationId xmlns:a16="http://schemas.microsoft.com/office/drawing/2014/main" id="{7E588F5D-88FE-DEF7-4637-4C47E4A6DD51}"/>
              </a:ext>
            </a:extLst>
          </p:cNvPr>
          <p:cNvSpPr>
            <a:spLocks noGrp="1"/>
          </p:cNvSpPr>
          <p:nvPr>
            <p:ph idx="1"/>
          </p:nvPr>
        </p:nvSpPr>
        <p:spPr>
          <a:xfrm>
            <a:off x="683568" y="1565176"/>
            <a:ext cx="8350696" cy="4683224"/>
          </a:xfrm>
        </p:spPr>
        <p:txBody>
          <a:bodyPr/>
          <a:lstStyle/>
          <a:p>
            <a:pPr lvl="0"/>
            <a:r>
              <a:rPr lang="en-US" sz="2400" b="1" dirty="0"/>
              <a:t>University of Nevada - Reno Intrusion Detection Dataset (UNR-IDD)</a:t>
            </a:r>
          </a:p>
          <a:p>
            <a:r>
              <a:rPr lang="en-IN" sz="2000" b="1" dirty="0"/>
              <a:t>Description</a:t>
            </a:r>
            <a:r>
              <a:rPr lang="en-IN" sz="2000" dirty="0"/>
              <a:t>: </a:t>
            </a:r>
            <a:r>
              <a:rPr lang="en-US" sz="2000" dirty="0"/>
              <a:t>The data includes various metrics related to network ports, packets, and bytes, along with timestamps and error counts.</a:t>
            </a:r>
          </a:p>
          <a:p>
            <a:r>
              <a:rPr lang="en-US" sz="2000" dirty="0"/>
              <a:t>It also contains information about connection points, load rates, and flow entries.</a:t>
            </a:r>
            <a:endParaRPr lang="en-IN" sz="2000" dirty="0"/>
          </a:p>
          <a:p>
            <a:pPr lvl="0"/>
            <a:r>
              <a:rPr lang="en-IN" sz="2400" b="1" dirty="0"/>
              <a:t>Fields</a:t>
            </a:r>
            <a:r>
              <a:rPr lang="en-IN" sz="2400" dirty="0"/>
              <a:t>: 35</a:t>
            </a:r>
          </a:p>
          <a:p>
            <a:pPr lvl="0"/>
            <a:r>
              <a:rPr lang="en-IN" sz="2400" b="1" dirty="0"/>
              <a:t>Size</a:t>
            </a:r>
            <a:r>
              <a:rPr lang="en-IN" sz="2400" dirty="0"/>
              <a:t>: 38KB</a:t>
            </a:r>
          </a:p>
          <a:p>
            <a:pPr lvl="0"/>
            <a:r>
              <a:rPr lang="en-IN" sz="2400" b="1" dirty="0"/>
              <a:t>Source</a:t>
            </a:r>
            <a:r>
              <a:rPr lang="en-IN" sz="2400" dirty="0"/>
              <a:t>: Kaggle</a:t>
            </a:r>
          </a:p>
          <a:p>
            <a:pPr marL="0" lvl="0" indent="0">
              <a:buNone/>
            </a:pPr>
            <a:r>
              <a:rPr lang="en-IN" dirty="0">
                <a:solidFill>
                  <a:schemeClr val="accent2"/>
                </a:solidFill>
                <a:hlinkClick r:id="rId2" action="ppaction://hlinkfile">
                  <a:extLst>
                    <a:ext uri="{A12FA001-AC4F-418D-AE19-62706E023703}">
                      <ahyp:hlinkClr xmlns:ahyp="http://schemas.microsoft.com/office/drawing/2018/hyperlinkcolor" val="tx"/>
                    </a:ext>
                  </a:extLst>
                </a:hlinkClick>
              </a:rPr>
              <a:t>UNR-IDD dataset.xlsx</a:t>
            </a:r>
            <a:endParaRPr lang="en-IN" dirty="0">
              <a:solidFill>
                <a:schemeClr val="accent2"/>
              </a:solidFill>
            </a:endParaRPr>
          </a:p>
        </p:txBody>
      </p:sp>
      <p:sp>
        <p:nvSpPr>
          <p:cNvPr id="4" name="Footer Placeholder 3">
            <a:extLst>
              <a:ext uri="{FF2B5EF4-FFF2-40B4-BE49-F238E27FC236}">
                <a16:creationId xmlns:a16="http://schemas.microsoft.com/office/drawing/2014/main" id="{499E15DB-D3D9-584F-74F4-DE2AD2600C3C}"/>
              </a:ext>
            </a:extLst>
          </p:cNvPr>
          <p:cNvSpPr>
            <a:spLocks noGrp="1"/>
          </p:cNvSpPr>
          <p:nvPr>
            <p:ph type="ftr" sz="quarter" idx="10"/>
          </p:nvPr>
        </p:nvSpPr>
        <p:spPr/>
        <p:txBody>
          <a:bodyPr/>
          <a:lstStyle/>
          <a:p>
            <a:pPr>
              <a:defRPr/>
            </a:pPr>
            <a:r>
              <a:rPr lang="en-US"/>
              <a:t>Department of IT</a:t>
            </a:r>
            <a:endParaRPr lang="en-US" dirty="0"/>
          </a:p>
        </p:txBody>
      </p:sp>
    </p:spTree>
    <p:extLst>
      <p:ext uri="{BB962C8B-B14F-4D97-AF65-F5344CB8AC3E}">
        <p14:creationId xmlns:p14="http://schemas.microsoft.com/office/powerpoint/2010/main" val="2024001683"/>
      </p:ext>
    </p:extLst>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0AE2825-483B-E820-6BD5-D46F2B124BA6}"/>
              </a:ext>
            </a:extLst>
          </p:cNvPr>
          <p:cNvSpPr>
            <a:spLocks noGrp="1"/>
          </p:cNvSpPr>
          <p:nvPr>
            <p:ph type="ftr" sz="quarter" idx="10"/>
          </p:nvPr>
        </p:nvSpPr>
        <p:spPr/>
        <p:txBody>
          <a:bodyPr/>
          <a:lstStyle/>
          <a:p>
            <a:pPr>
              <a:defRPr/>
            </a:pPr>
            <a:r>
              <a:rPr lang="en-US"/>
              <a:t>Department of IT</a:t>
            </a:r>
            <a:endParaRPr lang="en-US" dirty="0"/>
          </a:p>
        </p:txBody>
      </p:sp>
      <p:sp>
        <p:nvSpPr>
          <p:cNvPr id="3" name="TextBox 2">
            <a:extLst>
              <a:ext uri="{FF2B5EF4-FFF2-40B4-BE49-F238E27FC236}">
                <a16:creationId xmlns:a16="http://schemas.microsoft.com/office/drawing/2014/main" id="{372344D5-40C1-7D63-462E-CD430B0ABF10}"/>
              </a:ext>
            </a:extLst>
          </p:cNvPr>
          <p:cNvSpPr txBox="1"/>
          <p:nvPr/>
        </p:nvSpPr>
        <p:spPr>
          <a:xfrm>
            <a:off x="3635896" y="378766"/>
            <a:ext cx="2011192" cy="461665"/>
          </a:xfrm>
          <a:prstGeom prst="rect">
            <a:avLst/>
          </a:prstGeom>
          <a:noFill/>
        </p:spPr>
        <p:txBody>
          <a:bodyPr wrap="none" rtlCol="0">
            <a:spAutoFit/>
          </a:bodyPr>
          <a:lstStyle/>
          <a:p>
            <a:r>
              <a:rPr lang="en-US" sz="2400" dirty="0">
                <a:latin typeface="+mn-lt"/>
              </a:rPr>
              <a:t>Future Work:</a:t>
            </a:r>
          </a:p>
        </p:txBody>
      </p:sp>
      <p:sp>
        <p:nvSpPr>
          <p:cNvPr id="4" name="TextBox 3">
            <a:extLst>
              <a:ext uri="{FF2B5EF4-FFF2-40B4-BE49-F238E27FC236}">
                <a16:creationId xmlns:a16="http://schemas.microsoft.com/office/drawing/2014/main" id="{08A473AD-6571-3DED-39AC-33BB64FE9AEC}"/>
              </a:ext>
            </a:extLst>
          </p:cNvPr>
          <p:cNvSpPr txBox="1"/>
          <p:nvPr/>
        </p:nvSpPr>
        <p:spPr>
          <a:xfrm>
            <a:off x="827584" y="1023135"/>
            <a:ext cx="7992888" cy="5016758"/>
          </a:xfrm>
          <a:prstGeom prst="rect">
            <a:avLst/>
          </a:prstGeom>
          <a:noFill/>
        </p:spPr>
        <p:txBody>
          <a:bodyPr wrap="square" rtlCol="0">
            <a:spAutoFit/>
          </a:bodyPr>
          <a:lstStyle/>
          <a:p>
            <a:r>
              <a:rPr lang="en-US" sz="2000" dirty="0">
                <a:latin typeface="+mn-lt"/>
              </a:rPr>
              <a:t>Detect more attack types:</a:t>
            </a:r>
            <a:br>
              <a:rPr lang="en-US" sz="2000" b="0" dirty="0">
                <a:latin typeface="+mn-lt"/>
              </a:rPr>
            </a:br>
            <a:r>
              <a:rPr lang="en-US" sz="2000" b="0" dirty="0">
                <a:latin typeface="+mn-lt"/>
              </a:rPr>
              <a:t>Right now, TAPD focuses on one kind of attack (Random Label Manipulation). In the future, it can be improved to handle other attacks like changing the actual data values or smarter ways of flipping labels to cause more damage.</a:t>
            </a:r>
          </a:p>
          <a:p>
            <a:endParaRPr lang="en-US" sz="2000" b="0" dirty="0">
              <a:latin typeface="+mn-lt"/>
            </a:endParaRPr>
          </a:p>
          <a:p>
            <a:r>
              <a:rPr lang="en-US" sz="2000" dirty="0">
                <a:latin typeface="+mn-lt"/>
              </a:rPr>
              <a:t>Improve detection when many controllers are attacked:</a:t>
            </a:r>
            <a:br>
              <a:rPr lang="en-US" sz="2000" b="0" dirty="0">
                <a:latin typeface="+mn-lt"/>
              </a:rPr>
            </a:br>
            <a:r>
              <a:rPr lang="en-US" sz="2000" b="0" dirty="0">
                <a:latin typeface="+mn-lt"/>
              </a:rPr>
              <a:t>TAPD’s accuracy drops when more than 40% of controllers are hacked. To fix this, new methods like Median Absolute Deviation (MAD) can be used to spot unusual behavior better, even if many controllers are compromised.</a:t>
            </a:r>
          </a:p>
          <a:p>
            <a:endParaRPr lang="en-US" sz="2000" b="0" dirty="0">
              <a:latin typeface="+mn-lt"/>
            </a:endParaRPr>
          </a:p>
          <a:p>
            <a:r>
              <a:rPr lang="en-US" sz="2000" dirty="0">
                <a:latin typeface="+mn-lt"/>
              </a:rPr>
              <a:t>Handle different kinds of data in controllers:</a:t>
            </a:r>
            <a:br>
              <a:rPr lang="en-US" sz="2000" b="0" dirty="0">
                <a:latin typeface="+mn-lt"/>
              </a:rPr>
            </a:br>
            <a:r>
              <a:rPr lang="en-US" sz="2000" b="0" dirty="0">
                <a:latin typeface="+mn-lt"/>
              </a:rPr>
              <a:t>Currently, TAPD assumes all controllers have similar data, but in reality, data can be very different. Using techniques like K-Nearest Neighbors (KNN) can help TAPD recognize and fix wrong labels quickly, no matter how different the data looks.</a:t>
            </a:r>
          </a:p>
        </p:txBody>
      </p:sp>
    </p:spTree>
    <p:extLst>
      <p:ext uri="{BB962C8B-B14F-4D97-AF65-F5344CB8AC3E}">
        <p14:creationId xmlns:p14="http://schemas.microsoft.com/office/powerpoint/2010/main" val="1645567673"/>
      </p:ext>
    </p:extLst>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573545-6D90-3CE0-C0AE-C710B71F924D}"/>
              </a:ext>
            </a:extLst>
          </p:cNvPr>
          <p:cNvSpPr>
            <a:spLocks noGrp="1"/>
          </p:cNvSpPr>
          <p:nvPr>
            <p:ph type="ftr" sz="quarter" idx="10"/>
          </p:nvPr>
        </p:nvSpPr>
        <p:spPr/>
        <p:txBody>
          <a:bodyPr/>
          <a:lstStyle/>
          <a:p>
            <a:pPr>
              <a:defRPr/>
            </a:pPr>
            <a:r>
              <a:rPr lang="en-US"/>
              <a:t>Department of IT</a:t>
            </a:r>
            <a:endParaRPr lang="en-US" dirty="0"/>
          </a:p>
        </p:txBody>
      </p:sp>
      <p:sp>
        <p:nvSpPr>
          <p:cNvPr id="3" name="TextBox 2">
            <a:extLst>
              <a:ext uri="{FF2B5EF4-FFF2-40B4-BE49-F238E27FC236}">
                <a16:creationId xmlns:a16="http://schemas.microsoft.com/office/drawing/2014/main" id="{A67AF2AB-97D0-2421-982D-EE43E73AEA48}"/>
              </a:ext>
            </a:extLst>
          </p:cNvPr>
          <p:cNvSpPr txBox="1"/>
          <p:nvPr/>
        </p:nvSpPr>
        <p:spPr>
          <a:xfrm>
            <a:off x="1063518" y="969690"/>
            <a:ext cx="7560840" cy="3539430"/>
          </a:xfrm>
          <a:prstGeom prst="rect">
            <a:avLst/>
          </a:prstGeom>
          <a:noFill/>
        </p:spPr>
        <p:txBody>
          <a:bodyPr wrap="square" rtlCol="0">
            <a:spAutoFit/>
          </a:bodyPr>
          <a:lstStyle/>
          <a:p>
            <a:r>
              <a:rPr lang="en-US" sz="1400" b="0" dirty="0">
                <a:latin typeface="+mn-lt"/>
              </a:rPr>
              <a:t>[1] T. Q. Duong, T. </a:t>
            </a:r>
            <a:r>
              <a:rPr lang="en-US" sz="1400" b="0" dirty="0" err="1">
                <a:latin typeface="+mn-lt"/>
              </a:rPr>
              <a:t>Bauschert</a:t>
            </a:r>
            <a:r>
              <a:rPr lang="en-US" sz="1400" b="0" dirty="0">
                <a:latin typeface="+mn-lt"/>
              </a:rPr>
              <a:t>, and M. </a:t>
            </a:r>
            <a:r>
              <a:rPr lang="en-US" sz="1400" b="0" dirty="0" err="1">
                <a:latin typeface="+mn-lt"/>
              </a:rPr>
              <a:t>Pióro</a:t>
            </a:r>
            <a:r>
              <a:rPr lang="en-US" sz="1400" b="0" dirty="0">
                <a:latin typeface="+mn-lt"/>
              </a:rPr>
              <a:t>, “Software-Defined Networking: A Comprehensive Survey,” IEEE Communications Surveys &amp; Tutorials, vol. 21, no. 3, pp. 2425–2460, 2019.</a:t>
            </a:r>
            <a:endParaRPr lang="en-US" sz="1400" b="0" i="1" dirty="0">
              <a:latin typeface="+mn-lt"/>
            </a:endParaRPr>
          </a:p>
          <a:p>
            <a:r>
              <a:rPr lang="en-US" sz="1400" b="0" dirty="0">
                <a:latin typeface="+mn-lt"/>
              </a:rPr>
              <a:t> </a:t>
            </a:r>
            <a:endParaRPr lang="en-US" sz="1400" b="0" i="1" dirty="0">
              <a:latin typeface="+mn-lt"/>
            </a:endParaRPr>
          </a:p>
          <a:p>
            <a:r>
              <a:rPr lang="en-US" sz="1400" b="0" dirty="0">
                <a:latin typeface="+mn-lt"/>
              </a:rPr>
              <a:t>[2] A. </a:t>
            </a:r>
            <a:r>
              <a:rPr lang="en-US" sz="1400" b="0" dirty="0" err="1">
                <a:latin typeface="+mn-lt"/>
              </a:rPr>
              <a:t>Alshamrani</a:t>
            </a:r>
            <a:r>
              <a:rPr lang="en-US" sz="1400" b="0" dirty="0">
                <a:latin typeface="+mn-lt"/>
              </a:rPr>
              <a:t>, S. Myneni, A. Chowdhary, and D. Huang, “A Survey on Advanced Persistent Threats: Techniques, Solutions, Challenges, and Research Opportunities,” IEEE Communications Surveys &amp; Tutorials, vol. 21, no. 2, pp. 1851–1877, 2019.</a:t>
            </a:r>
            <a:endParaRPr lang="en-US" sz="1400" b="0" i="1" dirty="0">
              <a:latin typeface="+mn-lt"/>
            </a:endParaRPr>
          </a:p>
          <a:p>
            <a:r>
              <a:rPr lang="en-US" sz="1400" b="0" dirty="0">
                <a:latin typeface="+mn-lt"/>
              </a:rPr>
              <a:t> </a:t>
            </a:r>
            <a:endParaRPr lang="en-US" sz="1400" b="0" i="1" dirty="0">
              <a:latin typeface="+mn-lt"/>
            </a:endParaRPr>
          </a:p>
          <a:p>
            <a:r>
              <a:rPr lang="en-US" sz="1400" b="0" dirty="0">
                <a:latin typeface="+mn-lt"/>
              </a:rPr>
              <a:t>[3] A. G. Kumbhare and D. B. </a:t>
            </a:r>
            <a:r>
              <a:rPr lang="en-US" sz="1400" b="0" dirty="0" err="1">
                <a:latin typeface="+mn-lt"/>
              </a:rPr>
              <a:t>Dakhole</a:t>
            </a:r>
            <a:r>
              <a:rPr lang="en-US" sz="1400" b="0" dirty="0">
                <a:latin typeface="+mn-lt"/>
              </a:rPr>
              <a:t>, “A Review on Intrusion Detection Systems Using Machine Learning Techniques in Software Defined Networks,” Procedia Computer Science, vol. 171, pp. 1189–1198, 2020.</a:t>
            </a:r>
            <a:endParaRPr lang="en-US" sz="1400" b="0" i="1" dirty="0">
              <a:latin typeface="+mn-lt"/>
            </a:endParaRPr>
          </a:p>
          <a:p>
            <a:r>
              <a:rPr lang="en-US" sz="1400" b="0" dirty="0">
                <a:latin typeface="+mn-lt"/>
              </a:rPr>
              <a:t> </a:t>
            </a:r>
            <a:endParaRPr lang="en-US" sz="1400" b="0" i="1" dirty="0">
              <a:latin typeface="+mn-lt"/>
            </a:endParaRPr>
          </a:p>
          <a:p>
            <a:r>
              <a:rPr lang="en-IN" sz="1400" b="0" dirty="0">
                <a:latin typeface="+mn-lt"/>
              </a:rPr>
              <a:t>[4] </a:t>
            </a:r>
            <a:r>
              <a:rPr lang="en-IN" sz="1400" b="0" dirty="0" err="1">
                <a:latin typeface="+mn-lt"/>
              </a:rPr>
              <a:t>T.Hu,Z.Guo,P.Yi,T.Baker,andJ.Lan,“Multi</a:t>
            </a:r>
            <a:r>
              <a:rPr lang="en-IN" sz="1400" b="0" dirty="0">
                <a:latin typeface="+mn-lt"/>
              </a:rPr>
              <a:t>-controller based software defined networking: A survey,” IEEE Access, vol. 6, pp. 15980–15996, 2018.</a:t>
            </a:r>
            <a:endParaRPr lang="en-US" sz="1400" b="0" i="1" dirty="0">
              <a:latin typeface="+mn-lt"/>
            </a:endParaRPr>
          </a:p>
          <a:p>
            <a:r>
              <a:rPr lang="en-IN" sz="1400" b="0" dirty="0">
                <a:latin typeface="+mn-lt"/>
              </a:rPr>
              <a:t> </a:t>
            </a:r>
            <a:endParaRPr lang="en-US" sz="1400" b="0" i="1" dirty="0">
              <a:latin typeface="+mn-lt"/>
            </a:endParaRPr>
          </a:p>
          <a:p>
            <a:r>
              <a:rPr lang="en-IN" sz="1400" b="0" i="1" dirty="0">
                <a:latin typeface="+mn-lt"/>
              </a:rPr>
              <a:t>[5] M. Zhang, L. Hu, C. Shi, and X. Wang, “Adversarial label-flipping attack and </a:t>
            </a:r>
            <a:r>
              <a:rPr lang="en-IN" sz="1400" b="0" i="1" dirty="0" err="1">
                <a:latin typeface="+mn-lt"/>
              </a:rPr>
              <a:t>defense</a:t>
            </a:r>
            <a:r>
              <a:rPr lang="en-IN" sz="1400" b="0" i="1" dirty="0">
                <a:latin typeface="+mn-lt"/>
              </a:rPr>
              <a:t> for graph neural networks,” in Proc. 2020 IEEE Int. Conf. Data Mining, 2020, pp. 791–800.</a:t>
            </a:r>
            <a:endParaRPr lang="en-US" sz="1400" b="0" i="1" dirty="0">
              <a:latin typeface="+mn-lt"/>
            </a:endParaRPr>
          </a:p>
        </p:txBody>
      </p:sp>
      <p:sp>
        <p:nvSpPr>
          <p:cNvPr id="4" name="TextBox 3">
            <a:extLst>
              <a:ext uri="{FF2B5EF4-FFF2-40B4-BE49-F238E27FC236}">
                <a16:creationId xmlns:a16="http://schemas.microsoft.com/office/drawing/2014/main" id="{4C831C2D-985D-E26D-B420-B56CDF8A7AAF}"/>
              </a:ext>
            </a:extLst>
          </p:cNvPr>
          <p:cNvSpPr txBox="1"/>
          <p:nvPr/>
        </p:nvSpPr>
        <p:spPr>
          <a:xfrm>
            <a:off x="1066129" y="404664"/>
            <a:ext cx="2340705" cy="461665"/>
          </a:xfrm>
          <a:prstGeom prst="rect">
            <a:avLst/>
          </a:prstGeom>
          <a:noFill/>
        </p:spPr>
        <p:txBody>
          <a:bodyPr wrap="none" rtlCol="0">
            <a:spAutoFit/>
          </a:bodyPr>
          <a:lstStyle/>
          <a:p>
            <a:r>
              <a:rPr lang="en-US" sz="2400" dirty="0"/>
              <a:t>References: </a:t>
            </a:r>
          </a:p>
        </p:txBody>
      </p:sp>
    </p:spTree>
    <p:extLst>
      <p:ext uri="{BB962C8B-B14F-4D97-AF65-F5344CB8AC3E}">
        <p14:creationId xmlns:p14="http://schemas.microsoft.com/office/powerpoint/2010/main" val="932528326"/>
      </p:ext>
    </p:extLst>
  </p:cSld>
  <p:clrMapOvr>
    <a:masterClrMapping/>
  </p:clrMapOvr>
  <p:transition>
    <p:zoom/>
  </p:transition>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457200" marR="0" indent="0" algn="l" defTabSz="914400" rtl="0" eaLnBrk="1" fontAlgn="base" latinLnBrk="0" hangingPunct="1">
          <a:lnSpc>
            <a:spcPct val="100000"/>
          </a:lnSpc>
          <a:spcBef>
            <a:spcPct val="20000"/>
          </a:spcBef>
          <a:spcAft>
            <a:spcPct val="0"/>
          </a:spcAft>
          <a:buClrTx/>
          <a:buSzTx/>
          <a:buFontTx/>
          <a:buChar char="•"/>
          <a:defRPr kumimoji="0" lang="en-US" sz="1200" b="1" i="0" u="none" strike="noStrike" cap="none" normalizeH="0" baseline="0" smtClean="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457200" marR="0" indent="0" algn="l" defTabSz="914400" rtl="0" eaLnBrk="1" fontAlgn="base" latinLnBrk="0" hangingPunct="1">
          <a:lnSpc>
            <a:spcPct val="100000"/>
          </a:lnSpc>
          <a:spcBef>
            <a:spcPct val="20000"/>
          </a:spcBef>
          <a:spcAft>
            <a:spcPct val="0"/>
          </a:spcAft>
          <a:buClrTx/>
          <a:buSzTx/>
          <a:buFontTx/>
          <a:buChar char="•"/>
          <a:defRPr kumimoji="0" lang="en-US" sz="1200" b="1" i="0" u="none" strike="noStrike" cap="none" normalizeH="0" baseline="0" smtClean="0">
            <a:ln>
              <a:noFill/>
            </a:ln>
            <a:solidFill>
              <a:schemeClr val="tx1"/>
            </a:solidFill>
            <a:effectLst/>
            <a:latin typeface="Verdana" panose="020B0604030504040204" pitchFamily="34"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457200" marR="0" indent="0" algn="l" defTabSz="914400" rtl="0" eaLnBrk="1" fontAlgn="base" latinLnBrk="0" hangingPunct="1">
          <a:lnSpc>
            <a:spcPct val="100000"/>
          </a:lnSpc>
          <a:spcBef>
            <a:spcPct val="20000"/>
          </a:spcBef>
          <a:spcAft>
            <a:spcPct val="0"/>
          </a:spcAft>
          <a:buClrTx/>
          <a:buSzTx/>
          <a:buFontTx/>
          <a:buChar char="•"/>
          <a:defRPr kumimoji="0" lang="en-US" sz="1200" b="1" i="0" u="none" strike="noStrike" cap="none" normalizeH="0" baseline="0" smtClean="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457200" marR="0" indent="0" algn="l" defTabSz="914400" rtl="0" eaLnBrk="1" fontAlgn="base" latinLnBrk="0" hangingPunct="1">
          <a:lnSpc>
            <a:spcPct val="100000"/>
          </a:lnSpc>
          <a:spcBef>
            <a:spcPct val="20000"/>
          </a:spcBef>
          <a:spcAft>
            <a:spcPct val="0"/>
          </a:spcAft>
          <a:buClrTx/>
          <a:buSzTx/>
          <a:buFontTx/>
          <a:buChar char="•"/>
          <a:defRPr kumimoji="0" lang="en-US" sz="1200" b="1" i="0" u="none" strike="noStrike" cap="none" normalizeH="0" baseline="0" smtClean="0">
            <a:ln>
              <a:noFill/>
            </a:ln>
            <a:solidFill>
              <a:schemeClr val="tx1"/>
            </a:solidFill>
            <a:effectLst/>
            <a:latin typeface="Verdana" panose="020B0604030504040204"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1509</TotalTime>
  <Words>1631</Words>
  <Application>Microsoft Office PowerPoint</Application>
  <PresentationFormat>On-screen Show (4:3)</PresentationFormat>
  <Paragraphs>117</Paragraphs>
  <Slides>17</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17</vt:i4>
      </vt:variant>
    </vt:vector>
  </HeadingPairs>
  <TitlesOfParts>
    <vt:vector size="22" baseType="lpstr">
      <vt:lpstr>Verdana</vt:lpstr>
      <vt:lpstr>Arial</vt:lpstr>
      <vt:lpstr>Times New Roman</vt:lpstr>
      <vt:lpstr>Default Design</vt:lpstr>
      <vt:lpstr>Custom Design</vt:lpstr>
      <vt:lpstr>PowerPoint Presentation</vt:lpstr>
      <vt:lpstr>INTRODUCTION</vt:lpstr>
      <vt:lpstr>LITEARTURE SURVEY </vt:lpstr>
      <vt:lpstr>PowerPoint Presentation</vt:lpstr>
      <vt:lpstr>PowerPoint Presentation</vt:lpstr>
      <vt:lpstr>PowerPoint Presentation</vt:lpstr>
      <vt:lpstr>PowerPoint Presentation</vt:lpstr>
      <vt:lpstr>SOFTWARE REQUIREMENT SPECIFICATION(SRS)</vt:lpstr>
      <vt:lpstr>PowerPoint Presentation</vt:lpstr>
      <vt:lpstr>PowerPoint Presentation</vt:lpstr>
      <vt:lpstr>PowerPoint Presentation</vt:lpstr>
      <vt:lpstr>PowerPoint Presentation</vt:lpstr>
      <vt:lpstr>PowerPoint Presentation</vt:lpstr>
      <vt:lpstr>PowerPoint Presentation</vt:lpstr>
      <vt:lpstr>DATASET FOR THIS PROJECT</vt:lpstr>
      <vt:lpstr>PowerPoint Presentation</vt:lpstr>
      <vt:lpstr>PowerPoint Presentation</vt:lpstr>
    </vt:vector>
  </TitlesOfParts>
  <Company>rightgen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rightgen2</dc:creator>
  <cp:lastModifiedBy>ShreeHarini K</cp:lastModifiedBy>
  <cp:revision>399</cp:revision>
  <dcterms:created xsi:type="dcterms:W3CDTF">2001-09-21T16:07:00Z</dcterms:created>
  <dcterms:modified xsi:type="dcterms:W3CDTF">2025-08-11T09:31:10Z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FFA223BADA5241399B71DD871E247156_12</vt:lpwstr>
  </property>
  <property fmtid="{D5CDD505-2E9C-101B-9397-08002B2CF9AE}" pid="3" name="KSOProductBuildVer">
    <vt:lpwstr>1033-12.2.0.13359</vt:lpwstr>
  </property>
</Properties>
</file>